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PowerCo Customer Churn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Strategic Insights to Reduce Churn in the SME Division</a:t>
            </a:r>
          </a:p>
          <a:p>
            <a:r>
              <a:rPr lang="en-US" dirty="0"/>
              <a:t>Made by Khush Joshi</a:t>
            </a:r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1600"/>
            </a:pPr>
            <a:r>
              <a:t>Situation</a:t>
            </a:r>
          </a:p>
          <a:p>
            <a:pPr lvl="1">
              <a:defRPr sz="1600"/>
            </a:pPr>
            <a:r>
              <a:t>Complication</a:t>
            </a:r>
          </a:p>
          <a:p>
            <a:pPr lvl="1">
              <a:defRPr sz="1600"/>
            </a:pPr>
            <a:r>
              <a:t>Question</a:t>
            </a:r>
          </a:p>
          <a:p>
            <a:pPr lvl="1">
              <a:defRPr sz="1600"/>
            </a:pPr>
            <a:r>
              <a:t>Answer</a:t>
            </a:r>
          </a:p>
          <a:p>
            <a:pPr lvl="1">
              <a:defRPr sz="1600"/>
            </a:pPr>
            <a:r>
              <a:t>Results</a:t>
            </a:r>
          </a:p>
          <a:p>
            <a:pPr lvl="1">
              <a:defRPr sz="1600"/>
            </a:pPr>
            <a: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Situation: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1600"/>
            </a:pPr>
            <a:r>
              <a:t>Market Context:</a:t>
            </a:r>
          </a:p>
          <a:p>
            <a:pPr lvl="1">
              <a:defRPr sz="1600"/>
            </a:pPr>
            <a:r>
              <a:t>  - Recent market changes have increased competition.</a:t>
            </a:r>
          </a:p>
          <a:p>
            <a:pPr lvl="1">
              <a:defRPr sz="1600"/>
            </a:pPr>
            <a:r>
              <a:t>  - Customers have more choices, leading to higher churn risk.</a:t>
            </a:r>
          </a:p>
          <a:p>
            <a:pPr lvl="1">
              <a:defRPr sz="1600"/>
            </a:pPr>
            <a:r>
              <a:t>PowerCo's Challenge:</a:t>
            </a:r>
          </a:p>
          <a:p>
            <a:pPr lvl="1">
              <a:defRPr sz="1600"/>
            </a:pPr>
            <a:r>
              <a:t>  - Churn rate in SME division: 9.7% across 14,606 customers.</a:t>
            </a:r>
          </a:p>
          <a:p>
            <a:pPr lvl="1">
              <a:defRPr sz="1600"/>
            </a:pPr>
            <a:r>
              <a:t>  - Each customer loss impacts revenue and relationships.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Complication: Identifying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1600"/>
            </a:pPr>
            <a:r>
              <a:t>Key Issue:</a:t>
            </a:r>
          </a:p>
          <a:p>
            <a:pPr lvl="1">
              <a:defRPr sz="1600"/>
            </a:pPr>
            <a:r>
              <a:t>  - Growing concern about customer churn to competitors.</a:t>
            </a:r>
          </a:p>
          <a:p>
            <a:pPr lvl="1">
              <a:defRPr sz="1600"/>
            </a:pPr>
            <a:r>
              <a:t>  - Need to understand why customers leave and how to retain them.</a:t>
            </a:r>
          </a:p>
          <a:p>
            <a:pPr lvl="1">
              <a:defRPr sz="1600"/>
            </a:pPr>
            <a:r>
              <a:t>Initial Hypothesis:</a:t>
            </a:r>
          </a:p>
          <a:p>
            <a:pPr lvl="1">
              <a:defRPr sz="1600"/>
            </a:pPr>
            <a:r>
              <a:t>  - Price sensitivity assumed to be the primary driver.</a:t>
            </a:r>
          </a:p>
          <a:p>
            <a:pPr lvl="1">
              <a:defRPr sz="1600"/>
            </a:pPr>
            <a:r>
              <a:t>  - Other factors (e.g., consumption, service quality) may play a larger role.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Question: 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1600"/>
            </a:pPr>
            <a:r>
              <a:t>What are the primary drivers of customer churn in the SME division?</a:t>
            </a:r>
          </a:p>
          <a:p>
            <a:pPr lvl="1">
              <a:defRPr sz="1600"/>
            </a:pPr>
            <a:r>
              <a:t>Can we predict which customers are likely to churn?</a:t>
            </a:r>
          </a:p>
          <a:p>
            <a:pPr lvl="1">
              <a:defRPr sz="1600"/>
            </a:pPr>
            <a:r>
              <a:t>What strategies can effectively reduce churn while maintaining profitability?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Answer: Solution and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 b="1"/>
            </a:pPr>
            <a:r>
              <a:t>Predictive Model Findings</a:t>
            </a:r>
          </a:p>
          <a:p>
            <a:pPr lvl="1">
              <a:defRPr sz="1600"/>
            </a:pPr>
            <a:r>
              <a:t>Random Forest Classifier used to predict churn.</a:t>
            </a:r>
          </a:p>
          <a:p>
            <a:pPr lvl="1">
              <a:defRPr sz="1600"/>
            </a:pPr>
            <a:r>
              <a:t>Key Drivers:</a:t>
            </a:r>
          </a:p>
          <a:p>
            <a:pPr lvl="1">
              <a:defRPr sz="1600"/>
            </a:pPr>
            <a:r>
              <a:t>  1. Yearly consumption</a:t>
            </a:r>
          </a:p>
          <a:p>
            <a:pPr lvl="1">
              <a:defRPr sz="1600"/>
            </a:pPr>
            <a:r>
              <a:t>  2. Forecasted consumption</a:t>
            </a:r>
          </a:p>
          <a:p>
            <a:pPr lvl="1">
              <a:defRPr sz="1600"/>
            </a:pPr>
            <a:r>
              <a:t>  3. Net margin</a:t>
            </a:r>
          </a:p>
          <a:p>
            <a:pPr lvl="1">
              <a:defRPr sz="1600"/>
            </a:pPr>
            <a:r>
              <a:t>Price sensitivity is not the primary driver.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Answer: Targeted Discount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 b="1"/>
            </a:pPr>
            <a:r>
              <a:t>Recommendation</a:t>
            </a:r>
          </a:p>
          <a:p>
            <a:pPr lvl="1">
              <a:defRPr sz="1600"/>
            </a:pPr>
            <a:r>
              <a:t>20% Discount Strategy:</a:t>
            </a:r>
          </a:p>
          <a:p>
            <a:pPr lvl="1">
              <a:defRPr sz="1600"/>
            </a:pPr>
            <a:r>
              <a:t>  - Effective in reducing churn.</a:t>
            </a:r>
          </a:p>
          <a:p>
            <a:pPr lvl="1">
              <a:defRPr sz="1600"/>
            </a:pPr>
            <a:r>
              <a:t>  - Offer only to high-value customers with high churn probability.</a:t>
            </a:r>
          </a:p>
          <a:p>
            <a:pPr lvl="1">
              <a:defRPr sz="1600"/>
            </a:pPr>
            <a:r>
              <a:t>Impact:</a:t>
            </a:r>
          </a:p>
          <a:p>
            <a:pPr lvl="1">
              <a:defRPr sz="1600"/>
            </a:pPr>
            <a:r>
              <a:t>  - Increases retention of valuable customers.</a:t>
            </a:r>
          </a:p>
          <a:p>
            <a:pPr lvl="1">
              <a:defRPr sz="1600"/>
            </a:pPr>
            <a:r>
              <a:t>  - Minimizes revenue loss by avoiding blanket discounts.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Answer: Additional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1600"/>
            </a:pPr>
            <a:r>
              <a:t>Technology Investment:</a:t>
            </a:r>
          </a:p>
          <a:p>
            <a:pPr lvl="1">
              <a:defRPr sz="1600"/>
            </a:pPr>
            <a:r>
              <a:t>  - Implement smart metering and energy tracking devices.</a:t>
            </a:r>
          </a:p>
          <a:p>
            <a:pPr lvl="1">
              <a:defRPr sz="1600"/>
            </a:pPr>
            <a:r>
              <a:t>  - Enhances customer control over energy usage.</a:t>
            </a:r>
          </a:p>
          <a:p>
            <a:pPr lvl="1">
              <a:defRPr sz="1600"/>
            </a:pPr>
            <a:r>
              <a:t>Service Quality:</a:t>
            </a:r>
          </a:p>
          <a:p>
            <a:pPr lvl="1">
              <a:defRPr sz="1600"/>
            </a:pPr>
            <a:r>
              <a:t>  - Improve customer experience through effective communication.</a:t>
            </a:r>
          </a:p>
          <a:p>
            <a:pPr lvl="1">
              <a:defRPr sz="1600"/>
            </a:pPr>
            <a:r>
              <a:t>  - Satisfied customers drive organic growth via referrals.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Results: Model Performance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AUC-ROC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1600"/>
            </a:pPr>
            <a:r>
              <a:t>Implement Targeted Discounts: Roll out 20% discounts for high-value, high-risk customers.</a:t>
            </a:r>
          </a:p>
          <a:p>
            <a:pPr lvl="1">
              <a:defRPr sz="1600"/>
            </a:pPr>
            <a:r>
              <a:t>Invest in Technology: Deploy smart meters to enhance customer experience.</a:t>
            </a:r>
          </a:p>
          <a:p>
            <a:pPr lvl="1">
              <a:defRPr sz="1600"/>
            </a:pPr>
            <a:r>
              <a:t>Enhance Customer Service: Train staff for better communication.</a:t>
            </a:r>
          </a:p>
          <a:p>
            <a:pPr lvl="1">
              <a:defRPr sz="1600"/>
            </a:pPr>
            <a:r>
              <a:t>Monitor and Iterate: Continuously evaluate model performance and refine strategies.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rPr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395</Words>
  <Application>Microsoft Office PowerPoint</Application>
  <PresentationFormat>On-screen Show (4:3)</PresentationFormat>
  <Paragraphs>78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PowerCo Customer Churn Prediction</vt:lpstr>
      <vt:lpstr>Agenda</vt:lpstr>
      <vt:lpstr>Situation: Background</vt:lpstr>
      <vt:lpstr>Complication: Identifying the Problem</vt:lpstr>
      <vt:lpstr>Question: Hypothesis</vt:lpstr>
      <vt:lpstr>Answer: Solution and Impact</vt:lpstr>
      <vt:lpstr>Answer: Targeted Discount Strategy</vt:lpstr>
      <vt:lpstr>Answer: Additional Recommendations</vt:lpstr>
      <vt:lpstr>Results: Model Performance</vt:lpstr>
      <vt:lpstr>Next Steps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KHUSH JOSHI</cp:lastModifiedBy>
  <cp:revision>2</cp:revision>
  <dcterms:created xsi:type="dcterms:W3CDTF">2013-01-27T09:14:16Z</dcterms:created>
  <dcterms:modified xsi:type="dcterms:W3CDTF">2025-05-05T15:24:20Z</dcterms:modified>
  <cp:category/>
</cp:coreProperties>
</file>