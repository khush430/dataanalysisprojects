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Quattrocento" charset="1" panose="02020502030000000404"/>
      <p:regular r:id="rId15"/>
    </p:embeddedFont>
    <p:embeddedFont>
      <p:font typeface="Times New Roman Condensed" charset="1" panose="02030506070405020303"/>
      <p:regular r:id="rId16"/>
    </p:embeddedFont>
    <p:embeddedFont>
      <p:font typeface="Quattrocento Bold" charset="1" panose="020208020300000004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2A2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alphaModFix amt="43999"/>
            </a:blip>
            <a:srcRect l="0" t="31261" r="0" b="31261"/>
            <a:stretch>
              <a:fillRect/>
            </a:stretch>
          </p:blipFill>
          <p:spPr>
            <a:xfrm flipH="false" flipV="false">
              <a:off x="0" y="0"/>
              <a:ext cx="24384000" cy="13716000"/>
            </a:xfrm>
            <a:prstGeom prst="rect">
              <a:avLst/>
            </a:prstGeom>
          </p:spPr>
        </p:pic>
      </p:grpSp>
      <p:sp>
        <p:nvSpPr>
          <p:cNvPr name="TextBox 4" id="4"/>
          <p:cNvSpPr txBox="true"/>
          <p:nvPr/>
        </p:nvSpPr>
        <p:spPr>
          <a:xfrm rot="0">
            <a:off x="6720635" y="3851604"/>
            <a:ext cx="4902672" cy="788420"/>
          </a:xfrm>
          <a:prstGeom prst="rect">
            <a:avLst/>
          </a:prstGeom>
        </p:spPr>
        <p:txBody>
          <a:bodyPr anchor="t" rtlCol="false" tIns="0" lIns="0" bIns="0" rIns="0">
            <a:spAutoFit/>
          </a:bodyPr>
          <a:lstStyle/>
          <a:p>
            <a:pPr algn="ctr" marL="0" indent="0" lvl="0">
              <a:lnSpc>
                <a:spcPts val="5095"/>
              </a:lnSpc>
              <a:spcBef>
                <a:spcPct val="0"/>
              </a:spcBef>
            </a:pPr>
            <a:r>
              <a:rPr lang="en-US" sz="3639" spc="-72" strike="noStrike" u="none">
                <a:solidFill>
                  <a:srgbClr val="F8F4ED"/>
                </a:solidFill>
                <a:latin typeface="Quattrocento"/>
                <a:ea typeface="Quattrocento"/>
                <a:cs typeface="Quattrocento"/>
                <a:sym typeface="Quattrocento"/>
              </a:rPr>
              <a:t>EXECUTIVE SUMMARY </a:t>
            </a:r>
          </a:p>
        </p:txBody>
      </p:sp>
      <p:sp>
        <p:nvSpPr>
          <p:cNvPr name="TextBox 5" id="5"/>
          <p:cNvSpPr txBox="true"/>
          <p:nvPr/>
        </p:nvSpPr>
        <p:spPr>
          <a:xfrm rot="0">
            <a:off x="5158194" y="4287599"/>
            <a:ext cx="7971612" cy="2225959"/>
          </a:xfrm>
          <a:prstGeom prst="rect">
            <a:avLst/>
          </a:prstGeom>
        </p:spPr>
        <p:txBody>
          <a:bodyPr anchor="t" rtlCol="false" tIns="0" lIns="0" bIns="0" rIns="0">
            <a:spAutoFit/>
          </a:bodyPr>
          <a:lstStyle/>
          <a:p>
            <a:pPr algn="ctr">
              <a:lnSpc>
                <a:spcPts val="13624"/>
              </a:lnSpc>
              <a:spcBef>
                <a:spcPct val="0"/>
              </a:spcBef>
            </a:pPr>
            <a:r>
              <a:rPr lang="en-US" sz="9731">
                <a:solidFill>
                  <a:srgbClr val="DA601C"/>
                </a:solidFill>
                <a:latin typeface="Times New Roman Condensed"/>
                <a:ea typeface="Times New Roman Condensed"/>
                <a:cs typeface="Times New Roman Condensed"/>
                <a:sym typeface="Times New Roman Condensed"/>
              </a:rPr>
              <a:t>Project :PowerCo</a:t>
            </a:r>
          </a:p>
        </p:txBody>
      </p:sp>
      <p:sp>
        <p:nvSpPr>
          <p:cNvPr name="TextBox 6" id="6"/>
          <p:cNvSpPr txBox="true"/>
          <p:nvPr/>
        </p:nvSpPr>
        <p:spPr>
          <a:xfrm rot="0">
            <a:off x="6994335" y="6634041"/>
            <a:ext cx="4299331" cy="752039"/>
          </a:xfrm>
          <a:prstGeom prst="rect">
            <a:avLst/>
          </a:prstGeom>
        </p:spPr>
        <p:txBody>
          <a:bodyPr anchor="t" rtlCol="false" tIns="0" lIns="0" bIns="0" rIns="0">
            <a:spAutoFit/>
          </a:bodyPr>
          <a:lstStyle/>
          <a:p>
            <a:pPr algn="ctr">
              <a:lnSpc>
                <a:spcPts val="5095"/>
              </a:lnSpc>
              <a:spcBef>
                <a:spcPct val="0"/>
              </a:spcBef>
            </a:pPr>
            <a:r>
              <a:rPr lang="en-US" sz="3639" spc="-72">
                <a:solidFill>
                  <a:srgbClr val="F8F4ED"/>
                </a:solidFill>
                <a:latin typeface="Quattrocento"/>
                <a:ea typeface="Quattrocento"/>
                <a:cs typeface="Quattrocento"/>
                <a:sym typeface="Quattrocento"/>
              </a:rPr>
              <a:t>BUSINESS ANALYSIS</a:t>
            </a:r>
          </a:p>
        </p:txBody>
      </p:sp>
      <p:sp>
        <p:nvSpPr>
          <p:cNvPr name="AutoShape 7" id="7"/>
          <p:cNvSpPr/>
          <p:nvPr/>
        </p:nvSpPr>
        <p:spPr>
          <a:xfrm flipH="true">
            <a:off x="1360559" y="5116785"/>
            <a:ext cx="0" cy="4149179"/>
          </a:xfrm>
          <a:prstGeom prst="line">
            <a:avLst/>
          </a:prstGeom>
          <a:ln cap="flat" w="38100">
            <a:solidFill>
              <a:srgbClr val="FFFFFF"/>
            </a:solidFill>
            <a:prstDash val="solid"/>
            <a:headEnd type="none" len="sm" w="sm"/>
            <a:tailEnd type="none" len="sm" w="sm"/>
          </a:ln>
        </p:spPr>
      </p:sp>
      <p:sp>
        <p:nvSpPr>
          <p:cNvPr name="AutoShape 8" id="8"/>
          <p:cNvSpPr/>
          <p:nvPr/>
        </p:nvSpPr>
        <p:spPr>
          <a:xfrm>
            <a:off x="17240250" y="1028700"/>
            <a:ext cx="0" cy="4149179"/>
          </a:xfrm>
          <a:prstGeom prst="line">
            <a:avLst/>
          </a:prstGeom>
          <a:ln cap="flat" w="38100">
            <a:solidFill>
              <a:srgbClr val="DA601C"/>
            </a:solidFill>
            <a:prstDash val="solid"/>
            <a:headEnd type="none" len="sm" w="sm"/>
            <a:tailEnd type="none" len="sm" w="sm"/>
          </a:ln>
        </p:spPr>
      </p:sp>
      <p:sp>
        <p:nvSpPr>
          <p:cNvPr name="TextBox 9" id="9"/>
          <p:cNvSpPr txBox="true"/>
          <p:nvPr/>
        </p:nvSpPr>
        <p:spPr>
          <a:xfrm rot="0">
            <a:off x="11919645" y="8749923"/>
            <a:ext cx="5091904" cy="1030392"/>
          </a:xfrm>
          <a:prstGeom prst="rect">
            <a:avLst/>
          </a:prstGeom>
        </p:spPr>
        <p:txBody>
          <a:bodyPr anchor="t" rtlCol="false" tIns="0" lIns="0" bIns="0" rIns="0">
            <a:spAutoFit/>
          </a:bodyPr>
          <a:lstStyle/>
          <a:p>
            <a:pPr algn="ctr">
              <a:lnSpc>
                <a:spcPts val="4106"/>
              </a:lnSpc>
            </a:pPr>
            <a:r>
              <a:rPr lang="en-US" sz="2933" b="true">
                <a:solidFill>
                  <a:srgbClr val="FFFFFF"/>
                </a:solidFill>
                <a:latin typeface="Quattrocento Bold"/>
                <a:ea typeface="Quattrocento Bold"/>
                <a:cs typeface="Quattrocento Bold"/>
                <a:sym typeface="Quattrocento Bold"/>
              </a:rPr>
              <a:t>Persented by: Khush Joshi</a:t>
            </a:r>
          </a:p>
          <a:p>
            <a:pPr algn="ctr">
              <a:lnSpc>
                <a:spcPts val="4106"/>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4ED"/>
        </a:solidFill>
      </p:bgPr>
    </p:bg>
    <p:spTree>
      <p:nvGrpSpPr>
        <p:cNvPr id="1" name=""/>
        <p:cNvGrpSpPr/>
        <p:nvPr/>
      </p:nvGrpSpPr>
      <p:grpSpPr>
        <a:xfrm>
          <a:off x="0" y="0"/>
          <a:ext cx="0" cy="0"/>
          <a:chOff x="0" y="0"/>
          <a:chExt cx="0" cy="0"/>
        </a:xfrm>
      </p:grpSpPr>
      <p:grpSp>
        <p:nvGrpSpPr>
          <p:cNvPr name="Group 2" id="2"/>
          <p:cNvGrpSpPr/>
          <p:nvPr/>
        </p:nvGrpSpPr>
        <p:grpSpPr>
          <a:xfrm rot="0">
            <a:off x="-406178" y="5532648"/>
            <a:ext cx="5402042" cy="4114563"/>
            <a:chOff x="0" y="0"/>
            <a:chExt cx="1394789" cy="1062366"/>
          </a:xfrm>
        </p:grpSpPr>
        <p:sp>
          <p:nvSpPr>
            <p:cNvPr name="Freeform 3" id="3"/>
            <p:cNvSpPr/>
            <p:nvPr/>
          </p:nvSpPr>
          <p:spPr>
            <a:xfrm flipH="false" flipV="false" rot="0">
              <a:off x="0" y="0"/>
              <a:ext cx="1394789" cy="1062366"/>
            </a:xfrm>
            <a:custGeom>
              <a:avLst/>
              <a:gdLst/>
              <a:ahLst/>
              <a:cxnLst/>
              <a:rect r="r" b="b" t="t" l="l"/>
              <a:pathLst>
                <a:path h="1062366" w="1394789">
                  <a:moveTo>
                    <a:pt x="0" y="0"/>
                  </a:moveTo>
                  <a:lnTo>
                    <a:pt x="1394789" y="0"/>
                  </a:lnTo>
                  <a:lnTo>
                    <a:pt x="1394789" y="1062366"/>
                  </a:lnTo>
                  <a:lnTo>
                    <a:pt x="0" y="1062366"/>
                  </a:lnTo>
                  <a:close/>
                </a:path>
              </a:pathLst>
            </a:custGeom>
            <a:blipFill>
              <a:blip r:embed="rId2"/>
              <a:stretch>
                <a:fillRect l="0" t="-32056" r="0" b="-32056"/>
              </a:stretch>
            </a:blipFill>
          </p:spPr>
        </p:sp>
      </p:grpSp>
      <p:grpSp>
        <p:nvGrpSpPr>
          <p:cNvPr name="Group 4" id="4"/>
          <p:cNvGrpSpPr/>
          <p:nvPr/>
        </p:nvGrpSpPr>
        <p:grpSpPr>
          <a:xfrm rot="0">
            <a:off x="13320778" y="1306536"/>
            <a:ext cx="5373902" cy="3256947"/>
            <a:chOff x="0" y="0"/>
            <a:chExt cx="1387523" cy="840932"/>
          </a:xfrm>
        </p:grpSpPr>
        <p:sp>
          <p:nvSpPr>
            <p:cNvPr name="Freeform 5" id="5"/>
            <p:cNvSpPr/>
            <p:nvPr/>
          </p:nvSpPr>
          <p:spPr>
            <a:xfrm flipH="false" flipV="false" rot="0">
              <a:off x="0" y="0"/>
              <a:ext cx="1387523" cy="840932"/>
            </a:xfrm>
            <a:custGeom>
              <a:avLst/>
              <a:gdLst/>
              <a:ahLst/>
              <a:cxnLst/>
              <a:rect r="r" b="b" t="t" l="l"/>
              <a:pathLst>
                <a:path h="840932" w="1387523">
                  <a:moveTo>
                    <a:pt x="0" y="0"/>
                  </a:moveTo>
                  <a:lnTo>
                    <a:pt x="1387523" y="0"/>
                  </a:lnTo>
                  <a:lnTo>
                    <a:pt x="1387523" y="840932"/>
                  </a:lnTo>
                  <a:lnTo>
                    <a:pt x="0" y="840932"/>
                  </a:lnTo>
                  <a:close/>
                </a:path>
              </a:pathLst>
            </a:custGeom>
            <a:blipFill>
              <a:blip r:embed="rId3"/>
              <a:stretch>
                <a:fillRect l="0" t="-73826" r="0" b="-73825"/>
              </a:stretch>
            </a:blipFill>
          </p:spPr>
        </p:sp>
      </p:grpSp>
      <p:grpSp>
        <p:nvGrpSpPr>
          <p:cNvPr name="Group 6" id="6"/>
          <p:cNvGrpSpPr/>
          <p:nvPr/>
        </p:nvGrpSpPr>
        <p:grpSpPr>
          <a:xfrm rot="0">
            <a:off x="8776473" y="6239366"/>
            <a:ext cx="1350563" cy="13505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504F4B"/>
              </a:solidFill>
              <a:prstDash val="solid"/>
              <a:miter/>
            </a:ln>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497"/>
                </a:lnSpc>
              </a:pPr>
            </a:p>
          </p:txBody>
        </p:sp>
      </p:grpSp>
      <p:sp>
        <p:nvSpPr>
          <p:cNvPr name="TextBox 9" id="9"/>
          <p:cNvSpPr txBox="true"/>
          <p:nvPr/>
        </p:nvSpPr>
        <p:spPr>
          <a:xfrm rot="0">
            <a:off x="1347007" y="1749787"/>
            <a:ext cx="4432504" cy="1911791"/>
          </a:xfrm>
          <a:prstGeom prst="rect">
            <a:avLst/>
          </a:prstGeom>
        </p:spPr>
        <p:txBody>
          <a:bodyPr anchor="t" rtlCol="false" tIns="0" lIns="0" bIns="0" rIns="0">
            <a:spAutoFit/>
          </a:bodyPr>
          <a:lstStyle/>
          <a:p>
            <a:pPr algn="l">
              <a:lnSpc>
                <a:spcPts val="11897"/>
              </a:lnSpc>
            </a:pPr>
            <a:r>
              <a:rPr lang="en-US" sz="13833" spc="-788">
                <a:solidFill>
                  <a:srgbClr val="DA601C"/>
                </a:solidFill>
                <a:latin typeface="Times New Roman Condensed"/>
                <a:ea typeface="Times New Roman Condensed"/>
                <a:cs typeface="Times New Roman Condensed"/>
                <a:sym typeface="Times New Roman Condensed"/>
              </a:rPr>
              <a:t> Agenda</a:t>
            </a:r>
          </a:p>
        </p:txBody>
      </p:sp>
      <p:sp>
        <p:nvSpPr>
          <p:cNvPr name="TextBox 10" id="10"/>
          <p:cNvSpPr txBox="true"/>
          <p:nvPr/>
        </p:nvSpPr>
        <p:spPr>
          <a:xfrm rot="0">
            <a:off x="7156235" y="2496937"/>
            <a:ext cx="5389153" cy="422312"/>
          </a:xfrm>
          <a:prstGeom prst="rect">
            <a:avLst/>
          </a:prstGeom>
        </p:spPr>
        <p:txBody>
          <a:bodyPr anchor="t" rtlCol="false" tIns="0" lIns="0" bIns="0" rIns="0">
            <a:spAutoFit/>
          </a:bodyPr>
          <a:lstStyle/>
          <a:p>
            <a:pPr algn="l" marL="539437" indent="-269718" lvl="1">
              <a:lnSpc>
                <a:spcPts val="3497"/>
              </a:lnSpc>
              <a:buFont typeface="Arial"/>
              <a:buChar char="•"/>
            </a:pPr>
            <a:r>
              <a:rPr lang="en-US" b="true" sz="2498">
                <a:solidFill>
                  <a:srgbClr val="2B2A27"/>
                </a:solidFill>
                <a:latin typeface="Quattrocento Bold"/>
                <a:ea typeface="Quattrocento Bold"/>
                <a:cs typeface="Quattrocento Bold"/>
                <a:sym typeface="Quattrocento Bold"/>
              </a:rPr>
              <a:t>Project overview</a:t>
            </a:r>
          </a:p>
        </p:txBody>
      </p:sp>
      <p:sp>
        <p:nvSpPr>
          <p:cNvPr name="TextBox 11" id="11"/>
          <p:cNvSpPr txBox="true"/>
          <p:nvPr/>
        </p:nvSpPr>
        <p:spPr>
          <a:xfrm rot="0">
            <a:off x="7156235" y="3281198"/>
            <a:ext cx="5838331" cy="422312"/>
          </a:xfrm>
          <a:prstGeom prst="rect">
            <a:avLst/>
          </a:prstGeom>
        </p:spPr>
        <p:txBody>
          <a:bodyPr anchor="t" rtlCol="false" tIns="0" lIns="0" bIns="0" rIns="0">
            <a:spAutoFit/>
          </a:bodyPr>
          <a:lstStyle/>
          <a:p>
            <a:pPr algn="l" marL="539437" indent="-269718" lvl="1">
              <a:lnSpc>
                <a:spcPts val="3497"/>
              </a:lnSpc>
              <a:buFont typeface="Arial"/>
              <a:buChar char="•"/>
            </a:pPr>
            <a:r>
              <a:rPr lang="en-US" b="true" sz="2498">
                <a:solidFill>
                  <a:srgbClr val="2B2A27"/>
                </a:solidFill>
                <a:latin typeface="Quattrocento Bold"/>
                <a:ea typeface="Quattrocento Bold"/>
                <a:cs typeface="Quattrocento Bold"/>
                <a:sym typeface="Quattrocento Bold"/>
              </a:rPr>
              <a:t>Situation: situation and background</a:t>
            </a:r>
          </a:p>
        </p:txBody>
      </p:sp>
      <p:sp>
        <p:nvSpPr>
          <p:cNvPr name="TextBox 12" id="12"/>
          <p:cNvSpPr txBox="true"/>
          <p:nvPr/>
        </p:nvSpPr>
        <p:spPr>
          <a:xfrm rot="0">
            <a:off x="7156235" y="3976165"/>
            <a:ext cx="5389153" cy="860462"/>
          </a:xfrm>
          <a:prstGeom prst="rect">
            <a:avLst/>
          </a:prstGeom>
        </p:spPr>
        <p:txBody>
          <a:bodyPr anchor="t" rtlCol="false" tIns="0" lIns="0" bIns="0" rIns="0">
            <a:spAutoFit/>
          </a:bodyPr>
          <a:lstStyle/>
          <a:p>
            <a:pPr algn="l" marL="539437" indent="-269718" lvl="1">
              <a:lnSpc>
                <a:spcPts val="3497"/>
              </a:lnSpc>
              <a:buFont typeface="Arial"/>
              <a:buChar char="•"/>
            </a:pPr>
            <a:r>
              <a:rPr lang="en-US" b="true" sz="2498">
                <a:solidFill>
                  <a:srgbClr val="2B2A27"/>
                </a:solidFill>
                <a:latin typeface="Quattrocento Bold"/>
                <a:ea typeface="Quattrocento Bold"/>
                <a:cs typeface="Quattrocento Bold"/>
                <a:sym typeface="Quattrocento Bold"/>
              </a:rPr>
              <a:t>Complication:  Identify problem(s) or opportunity</a:t>
            </a:r>
          </a:p>
        </p:txBody>
      </p:sp>
      <p:sp>
        <p:nvSpPr>
          <p:cNvPr name="TextBox 13" id="13"/>
          <p:cNvSpPr txBox="true"/>
          <p:nvPr/>
        </p:nvSpPr>
        <p:spPr>
          <a:xfrm rot="0">
            <a:off x="11870147" y="5953728"/>
            <a:ext cx="5389153" cy="422312"/>
          </a:xfrm>
          <a:prstGeom prst="rect">
            <a:avLst/>
          </a:prstGeom>
        </p:spPr>
        <p:txBody>
          <a:bodyPr anchor="t" rtlCol="false" tIns="0" lIns="0" bIns="0" rIns="0">
            <a:spAutoFit/>
          </a:bodyPr>
          <a:lstStyle/>
          <a:p>
            <a:pPr algn="l" marL="539437" indent="-269718" lvl="1">
              <a:lnSpc>
                <a:spcPts val="3497"/>
              </a:lnSpc>
              <a:buFont typeface="Arial"/>
              <a:buChar char="•"/>
            </a:pPr>
            <a:r>
              <a:rPr lang="en-US" b="true" sz="2498">
                <a:solidFill>
                  <a:srgbClr val="2B2A27"/>
                </a:solidFill>
                <a:latin typeface="Quattrocento Bold"/>
                <a:ea typeface="Quattrocento Bold"/>
                <a:cs typeface="Quattrocento Bold"/>
                <a:sym typeface="Quattrocento Bold"/>
              </a:rPr>
              <a:t>Question : State hypothesis</a:t>
            </a:r>
          </a:p>
        </p:txBody>
      </p:sp>
      <p:sp>
        <p:nvSpPr>
          <p:cNvPr name="TextBox 14" id="14"/>
          <p:cNvSpPr txBox="true"/>
          <p:nvPr/>
        </p:nvSpPr>
        <p:spPr>
          <a:xfrm rot="0">
            <a:off x="11870147" y="6857498"/>
            <a:ext cx="5389153" cy="860462"/>
          </a:xfrm>
          <a:prstGeom prst="rect">
            <a:avLst/>
          </a:prstGeom>
        </p:spPr>
        <p:txBody>
          <a:bodyPr anchor="t" rtlCol="false" tIns="0" lIns="0" bIns="0" rIns="0">
            <a:spAutoFit/>
          </a:bodyPr>
          <a:lstStyle/>
          <a:p>
            <a:pPr algn="l" marL="539437" indent="-269718" lvl="1">
              <a:lnSpc>
                <a:spcPts val="3497"/>
              </a:lnSpc>
              <a:buFont typeface="Arial"/>
              <a:buChar char="•"/>
            </a:pPr>
            <a:r>
              <a:rPr lang="en-US" b="true" sz="2498">
                <a:solidFill>
                  <a:srgbClr val="2B2A27"/>
                </a:solidFill>
                <a:latin typeface="Quattrocento Bold"/>
                <a:ea typeface="Quattrocento Bold"/>
                <a:cs typeface="Quattrocento Bold"/>
                <a:sym typeface="Quattrocento Bold"/>
              </a:rPr>
              <a:t>Answer: Propose solution and discuss impact</a:t>
            </a:r>
          </a:p>
        </p:txBody>
      </p:sp>
      <p:sp>
        <p:nvSpPr>
          <p:cNvPr name="AutoShape 15" id="15"/>
          <p:cNvSpPr/>
          <p:nvPr/>
        </p:nvSpPr>
        <p:spPr>
          <a:xfrm>
            <a:off x="9140178" y="6914648"/>
            <a:ext cx="626336" cy="0"/>
          </a:xfrm>
          <a:prstGeom prst="line">
            <a:avLst/>
          </a:prstGeom>
          <a:ln cap="rnd" w="38100">
            <a:solidFill>
              <a:srgbClr val="504F4B"/>
            </a:solidFill>
            <a:prstDash val="solid"/>
            <a:headEnd type="none" len="sm" w="sm"/>
            <a:tailEnd type="arrow" len="sm" w="med"/>
          </a:ln>
        </p:spPr>
      </p:sp>
      <p:grpSp>
        <p:nvGrpSpPr>
          <p:cNvPr name="Group 16" id="16"/>
          <p:cNvGrpSpPr/>
          <p:nvPr/>
        </p:nvGrpSpPr>
        <p:grpSpPr>
          <a:xfrm rot="0">
            <a:off x="3342498" y="3348509"/>
            <a:ext cx="1350563" cy="135056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504F4B"/>
              </a:solid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497"/>
                </a:lnSpc>
              </a:pPr>
            </a:p>
          </p:txBody>
        </p:sp>
      </p:grpSp>
      <p:sp>
        <p:nvSpPr>
          <p:cNvPr name="AutoShape 19" id="19"/>
          <p:cNvSpPr/>
          <p:nvPr/>
        </p:nvSpPr>
        <p:spPr>
          <a:xfrm>
            <a:off x="3706202" y="4023790"/>
            <a:ext cx="626336" cy="0"/>
          </a:xfrm>
          <a:prstGeom prst="line">
            <a:avLst/>
          </a:prstGeom>
          <a:ln cap="rnd" w="38100">
            <a:solidFill>
              <a:srgbClr val="504F4B"/>
            </a:solidFill>
            <a:prstDash val="solid"/>
            <a:headEnd type="none" len="sm" w="sm"/>
            <a:tailEnd type="arrow" len="sm" w="med"/>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4E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860537">
            <a:off x="13434473" y="1652966"/>
            <a:ext cx="3723221" cy="4325303"/>
            <a:chOff x="0" y="0"/>
            <a:chExt cx="5466080" cy="6350000"/>
          </a:xfrm>
        </p:grpSpPr>
        <p:sp>
          <p:nvSpPr>
            <p:cNvPr name="Freeform 3" id="3"/>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4" id="4"/>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2"/>
              <a:stretch>
                <a:fillRect l="0" t="-15104" r="0" b="-15104"/>
              </a:stretch>
            </a:blipFill>
          </p:spPr>
        </p:sp>
        <p:sp>
          <p:nvSpPr>
            <p:cNvPr name="Freeform 5" id="5"/>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6" id="6"/>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grpSp>
        <p:nvGrpSpPr>
          <p:cNvPr name="Group 7" id="7"/>
          <p:cNvGrpSpPr>
            <a:grpSpLocks noChangeAspect="true"/>
          </p:cNvGrpSpPr>
          <p:nvPr/>
        </p:nvGrpSpPr>
        <p:grpSpPr>
          <a:xfrm rot="-276321">
            <a:off x="10525778" y="2980848"/>
            <a:ext cx="3723221" cy="4325303"/>
            <a:chOff x="0" y="0"/>
            <a:chExt cx="5466080" cy="6350000"/>
          </a:xfrm>
        </p:grpSpPr>
        <p:sp>
          <p:nvSpPr>
            <p:cNvPr name="Freeform 8" id="8"/>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9" id="9"/>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3"/>
              <a:stretch>
                <a:fillRect l="-22045" t="0" r="-22045" b="0"/>
              </a:stretch>
            </a:blipFill>
          </p:spPr>
        </p:sp>
        <p:sp>
          <p:nvSpPr>
            <p:cNvPr name="Freeform 10" id="10"/>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1" id="11"/>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sp>
        <p:nvSpPr>
          <p:cNvPr name="TextBox 12" id="12"/>
          <p:cNvSpPr txBox="true"/>
          <p:nvPr/>
        </p:nvSpPr>
        <p:spPr>
          <a:xfrm rot="0">
            <a:off x="1141048" y="1635017"/>
            <a:ext cx="5691145" cy="2986430"/>
          </a:xfrm>
          <a:prstGeom prst="rect">
            <a:avLst/>
          </a:prstGeom>
        </p:spPr>
        <p:txBody>
          <a:bodyPr anchor="t" rtlCol="false" tIns="0" lIns="0" bIns="0" rIns="0">
            <a:spAutoFit/>
          </a:bodyPr>
          <a:lstStyle/>
          <a:p>
            <a:pPr algn="l">
              <a:lnSpc>
                <a:spcPts val="9960"/>
              </a:lnSpc>
            </a:pPr>
            <a:r>
              <a:rPr lang="en-US" sz="13833" spc="-788">
                <a:solidFill>
                  <a:srgbClr val="DA601C"/>
                </a:solidFill>
                <a:latin typeface="Times New Roman Condensed"/>
                <a:ea typeface="Times New Roman Condensed"/>
                <a:cs typeface="Times New Roman Condensed"/>
                <a:sym typeface="Times New Roman Condensed"/>
              </a:rPr>
              <a:t>Project Overview</a:t>
            </a:r>
          </a:p>
        </p:txBody>
      </p:sp>
      <p:sp>
        <p:nvSpPr>
          <p:cNvPr name="TextBox 13" id="13"/>
          <p:cNvSpPr txBox="true"/>
          <p:nvPr/>
        </p:nvSpPr>
        <p:spPr>
          <a:xfrm rot="0">
            <a:off x="2526173" y="4554772"/>
            <a:ext cx="6617827" cy="4107852"/>
          </a:xfrm>
          <a:prstGeom prst="rect">
            <a:avLst/>
          </a:prstGeom>
        </p:spPr>
        <p:txBody>
          <a:bodyPr anchor="t" rtlCol="false" tIns="0" lIns="0" bIns="0" rIns="0">
            <a:spAutoFit/>
          </a:bodyPr>
          <a:lstStyle/>
          <a:p>
            <a:pPr algn="l">
              <a:lnSpc>
                <a:spcPts val="4057"/>
              </a:lnSpc>
            </a:pPr>
            <a:r>
              <a:rPr lang="en-US" sz="2898">
                <a:solidFill>
                  <a:srgbClr val="2B2A27"/>
                </a:solidFill>
                <a:latin typeface="Quattrocento"/>
                <a:ea typeface="Quattrocento"/>
                <a:cs typeface="Quattrocento"/>
                <a:sym typeface="Quattrocento"/>
              </a:rPr>
              <a:t>This presentation is an analysis of our Client: </a:t>
            </a:r>
            <a:r>
              <a:rPr lang="en-US" sz="2898" b="true">
                <a:solidFill>
                  <a:srgbClr val="2B2A27"/>
                </a:solidFill>
                <a:latin typeface="Quattrocento Bold"/>
                <a:ea typeface="Quattrocento Bold"/>
                <a:cs typeface="Quattrocento Bold"/>
                <a:sym typeface="Quattrocento Bold"/>
              </a:rPr>
              <a:t>PowerCo</a:t>
            </a:r>
          </a:p>
          <a:p>
            <a:pPr algn="l">
              <a:lnSpc>
                <a:spcPts val="4057"/>
              </a:lnSpc>
            </a:pPr>
            <a:r>
              <a:rPr lang="en-US" sz="2898">
                <a:solidFill>
                  <a:srgbClr val="2B2A27"/>
                </a:solidFill>
                <a:latin typeface="Quattrocento"/>
                <a:ea typeface="Quattrocento"/>
                <a:cs typeface="Quattrocento"/>
                <a:sym typeface="Quattrocento"/>
              </a:rPr>
              <a:t>Industry: </a:t>
            </a:r>
            <a:r>
              <a:rPr lang="en-US" sz="2898" b="true">
                <a:solidFill>
                  <a:srgbClr val="2B2A27"/>
                </a:solidFill>
                <a:latin typeface="Quattrocento Bold"/>
                <a:ea typeface="Quattrocento Bold"/>
                <a:cs typeface="Quattrocento Bold"/>
                <a:sym typeface="Quattrocento Bold"/>
              </a:rPr>
              <a:t>Gas and Electricity Utility</a:t>
            </a:r>
          </a:p>
          <a:p>
            <a:pPr algn="l">
              <a:lnSpc>
                <a:spcPts val="4057"/>
              </a:lnSpc>
            </a:pPr>
            <a:r>
              <a:rPr lang="en-US" sz="2898">
                <a:solidFill>
                  <a:srgbClr val="2B2A27"/>
                </a:solidFill>
                <a:latin typeface="Quattrocento"/>
                <a:ea typeface="Quattrocento"/>
                <a:cs typeface="Quattrocento"/>
                <a:sym typeface="Quattrocento"/>
              </a:rPr>
              <a:t>Trusted Provider: PowerCo serves small and medium-sized enterprises (SMEs) in a</a:t>
            </a:r>
            <a:r>
              <a:rPr lang="en-US" sz="2898" b="true">
                <a:solidFill>
                  <a:srgbClr val="2B2A27"/>
                </a:solidFill>
                <a:latin typeface="Quattrocento Bold"/>
                <a:ea typeface="Quattrocento Bold"/>
                <a:cs typeface="Quattrocento Bold"/>
                <a:sym typeface="Quattrocento Bold"/>
              </a:rPr>
              <a:t> rapidly </a:t>
            </a:r>
            <a:r>
              <a:rPr lang="en-US" sz="2898">
                <a:solidFill>
                  <a:srgbClr val="2B2A27"/>
                </a:solidFill>
                <a:latin typeface="Quattrocento"/>
                <a:ea typeface="Quattrocento"/>
                <a:cs typeface="Quattrocento"/>
                <a:sym typeface="Quattrocento"/>
              </a:rPr>
              <a:t>evolving energy market. Due to increased competition, PowerCo is experiencing customer</a:t>
            </a:r>
            <a:r>
              <a:rPr lang="en-US" sz="2898" b="true">
                <a:solidFill>
                  <a:srgbClr val="2B2A27"/>
                </a:solidFill>
                <a:latin typeface="Quattrocento Bold"/>
                <a:ea typeface="Quattrocento Bold"/>
                <a:cs typeface="Quattrocento Bold"/>
                <a:sym typeface="Quattrocento Bold"/>
              </a:rPr>
              <a:t> churn</a:t>
            </a:r>
            <a:r>
              <a:rPr lang="en-US" sz="2898">
                <a:solidFill>
                  <a:srgbClr val="2B2A27"/>
                </a:solidFill>
                <a:latin typeface="Quattrocento"/>
                <a:ea typeface="Quattrocento"/>
                <a:cs typeface="Quattrocento"/>
                <a:sym typeface="Quattrocento"/>
              </a:rPr>
              <a:t>.</a:t>
            </a:r>
          </a:p>
        </p:txBody>
      </p:sp>
      <p:grpSp>
        <p:nvGrpSpPr>
          <p:cNvPr name="Group 14" id="14"/>
          <p:cNvGrpSpPr>
            <a:grpSpLocks noChangeAspect="true"/>
          </p:cNvGrpSpPr>
          <p:nvPr/>
        </p:nvGrpSpPr>
        <p:grpSpPr>
          <a:xfrm rot="0">
            <a:off x="12755898" y="4855128"/>
            <a:ext cx="3321469" cy="3858584"/>
            <a:chOff x="0" y="0"/>
            <a:chExt cx="5466080" cy="6350000"/>
          </a:xfrm>
        </p:grpSpPr>
        <p:sp>
          <p:nvSpPr>
            <p:cNvPr name="Freeform 15" id="15"/>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16" id="16"/>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4"/>
              <a:stretch>
                <a:fillRect l="0" t="-28173" r="0" b="-28173"/>
              </a:stretch>
            </a:blipFill>
          </p:spPr>
        </p:sp>
        <p:sp>
          <p:nvSpPr>
            <p:cNvPr name="Freeform 17" id="17"/>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8" id="18"/>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sp>
        <p:nvSpPr>
          <p:cNvPr name="AutoShape 19" id="19"/>
          <p:cNvSpPr/>
          <p:nvPr/>
        </p:nvSpPr>
        <p:spPr>
          <a:xfrm>
            <a:off x="2388162" y="4587267"/>
            <a:ext cx="0" cy="4149179"/>
          </a:xfrm>
          <a:prstGeom prst="line">
            <a:avLst/>
          </a:prstGeom>
          <a:ln cap="flat" w="38100">
            <a:solidFill>
              <a:srgbClr val="3C3333"/>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4E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220968">
            <a:off x="12870765" y="-369858"/>
            <a:ext cx="5929008" cy="11525991"/>
            <a:chOff x="0" y="0"/>
            <a:chExt cx="3175000" cy="6172200"/>
          </a:xfrm>
        </p:grpSpPr>
        <p:sp>
          <p:nvSpPr>
            <p:cNvPr name="Freeform 3" id="3"/>
            <p:cNvSpPr/>
            <p:nvPr/>
          </p:nvSpPr>
          <p:spPr>
            <a:xfrm flipH="false" flipV="false" rot="0">
              <a:off x="0" y="0"/>
              <a:ext cx="3175000" cy="6172200"/>
            </a:xfrm>
            <a:custGeom>
              <a:avLst/>
              <a:gdLst/>
              <a:ahLst/>
              <a:cxnLst/>
              <a:rect r="r" b="b" t="t" l="l"/>
              <a:pathLst>
                <a:path h="6172200" w="3175000">
                  <a:moveTo>
                    <a:pt x="3175000" y="6172200"/>
                  </a:moveTo>
                  <a:lnTo>
                    <a:pt x="0" y="6172200"/>
                  </a:lnTo>
                  <a:lnTo>
                    <a:pt x="0" y="0"/>
                  </a:lnTo>
                  <a:lnTo>
                    <a:pt x="3175000" y="0"/>
                  </a:lnTo>
                  <a:lnTo>
                    <a:pt x="3175000" y="6172200"/>
                  </a:lnTo>
                  <a:close/>
                </a:path>
              </a:pathLst>
            </a:custGeom>
            <a:blipFill>
              <a:blip r:embed="rId2"/>
              <a:stretch>
                <a:fillRect l="-95891" t="0" r="-95891" b="0"/>
              </a:stretch>
            </a:blipFill>
          </p:spPr>
        </p:sp>
        <p:sp>
          <p:nvSpPr>
            <p:cNvPr name="Freeform 4" id="4"/>
            <p:cNvSpPr/>
            <p:nvPr/>
          </p:nvSpPr>
          <p:spPr>
            <a:xfrm flipH="false" flipV="false" rot="0">
              <a:off x="0" y="0"/>
              <a:ext cx="3175000" cy="6172200"/>
            </a:xfrm>
            <a:custGeom>
              <a:avLst/>
              <a:gdLst/>
              <a:ahLst/>
              <a:cxnLst/>
              <a:rect r="r" b="b" t="t" l="l"/>
              <a:pathLst>
                <a:path h="6172200" w="3175000">
                  <a:moveTo>
                    <a:pt x="3175000" y="6172200"/>
                  </a:moveTo>
                  <a:lnTo>
                    <a:pt x="0" y="6172200"/>
                  </a:lnTo>
                  <a:lnTo>
                    <a:pt x="0" y="0"/>
                  </a:lnTo>
                  <a:lnTo>
                    <a:pt x="3175000" y="0"/>
                  </a:lnTo>
                  <a:lnTo>
                    <a:pt x="3175000" y="6172200"/>
                  </a:lnTo>
                  <a:close/>
                </a:path>
              </a:pathLst>
            </a:custGeom>
            <a:blipFill>
              <a:blip r:embed="rId3"/>
              <a:stretch>
                <a:fillRect l="0" t="-2" r="0" b="-2"/>
              </a:stretch>
            </a:blipFill>
          </p:spPr>
        </p:sp>
      </p:grpSp>
      <p:sp>
        <p:nvSpPr>
          <p:cNvPr name="AutoShape 5" id="5"/>
          <p:cNvSpPr/>
          <p:nvPr/>
        </p:nvSpPr>
        <p:spPr>
          <a:xfrm>
            <a:off x="2364284" y="10048875"/>
            <a:ext cx="9689568"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0" y="444758"/>
            <a:ext cx="12845247" cy="3243648"/>
          </a:xfrm>
          <a:prstGeom prst="rect">
            <a:avLst/>
          </a:prstGeom>
        </p:spPr>
        <p:txBody>
          <a:bodyPr anchor="t" rtlCol="false" tIns="0" lIns="0" bIns="0" rIns="0">
            <a:spAutoFit/>
          </a:bodyPr>
          <a:lstStyle/>
          <a:p>
            <a:pPr algn="l">
              <a:lnSpc>
                <a:spcPts val="11295"/>
              </a:lnSpc>
            </a:pPr>
            <a:r>
              <a:rPr lang="en-US" sz="13133" spc="-748">
                <a:solidFill>
                  <a:srgbClr val="DA601C"/>
                </a:solidFill>
                <a:latin typeface="Times New Roman Condensed"/>
                <a:ea typeface="Times New Roman Condensed"/>
                <a:cs typeface="Times New Roman Condensed"/>
                <a:sym typeface="Times New Roman Condensed"/>
              </a:rPr>
              <a:t>Situation  and Background</a:t>
            </a:r>
          </a:p>
        </p:txBody>
      </p:sp>
      <p:sp>
        <p:nvSpPr>
          <p:cNvPr name="TextBox 7" id="7"/>
          <p:cNvSpPr txBox="true"/>
          <p:nvPr/>
        </p:nvSpPr>
        <p:spPr>
          <a:xfrm rot="0">
            <a:off x="615703" y="3355922"/>
            <a:ext cx="6229248" cy="5326155"/>
          </a:xfrm>
          <a:prstGeom prst="rect">
            <a:avLst/>
          </a:prstGeom>
        </p:spPr>
        <p:txBody>
          <a:bodyPr anchor="t" rtlCol="false" tIns="0" lIns="0" bIns="0" rIns="0">
            <a:spAutoFit/>
          </a:bodyPr>
          <a:lstStyle/>
          <a:p>
            <a:pPr algn="l">
              <a:lnSpc>
                <a:spcPts val="3057"/>
              </a:lnSpc>
            </a:pPr>
          </a:p>
          <a:p>
            <a:pPr algn="l" marL="471492" indent="-235746" lvl="1">
              <a:lnSpc>
                <a:spcPts val="3057"/>
              </a:lnSpc>
              <a:buFont typeface="Arial"/>
              <a:buChar char="•"/>
            </a:pPr>
            <a:r>
              <a:rPr lang="en-US" sz="2183">
                <a:solidFill>
                  <a:srgbClr val="2B2A27"/>
                </a:solidFill>
                <a:latin typeface="Quattrocento"/>
                <a:ea typeface="Quattrocento"/>
                <a:cs typeface="Quattrocento"/>
                <a:sym typeface="Quattrocento"/>
              </a:rPr>
              <a:t>Changing Landscape: Recent market changes have given customers more choices than ever, increasing competition among energy providers.</a:t>
            </a:r>
          </a:p>
          <a:p>
            <a:pPr algn="l" marL="471492" indent="-235746" lvl="1">
              <a:lnSpc>
                <a:spcPts val="3057"/>
              </a:lnSpc>
              <a:buFont typeface="Arial"/>
              <a:buChar char="•"/>
            </a:pPr>
            <a:r>
              <a:rPr lang="en-US" sz="2183">
                <a:solidFill>
                  <a:srgbClr val="2B2A27"/>
                </a:solidFill>
                <a:latin typeface="Quattrocento"/>
                <a:ea typeface="Quattrocento"/>
                <a:cs typeface="Quattrocento"/>
                <a:sym typeface="Quattrocento"/>
              </a:rPr>
              <a:t>Customer Churn Concern:</a:t>
            </a:r>
          </a:p>
          <a:p>
            <a:pPr algn="l" marL="942983" indent="-314328" lvl="2">
              <a:lnSpc>
                <a:spcPts val="3057"/>
              </a:lnSpc>
              <a:buFont typeface="Arial"/>
              <a:buChar char="⚬"/>
            </a:pPr>
            <a:r>
              <a:rPr lang="en-US" sz="2183">
                <a:solidFill>
                  <a:srgbClr val="2B2A27"/>
                </a:solidFill>
                <a:latin typeface="Quattrocento"/>
                <a:ea typeface="Quattrocento"/>
                <a:cs typeface="Quattrocento"/>
                <a:sym typeface="Quattrocento"/>
              </a:rPr>
              <a:t>Growing worry about customer churn—the loss of valued customers to competitors.</a:t>
            </a:r>
          </a:p>
          <a:p>
            <a:pPr algn="l" marL="942983" indent="-314328" lvl="2">
              <a:lnSpc>
                <a:spcPts val="3057"/>
              </a:lnSpc>
              <a:buFont typeface="Arial"/>
              <a:buChar char="⚬"/>
            </a:pPr>
            <a:r>
              <a:rPr lang="en-US" sz="2183">
                <a:solidFill>
                  <a:srgbClr val="2B2A27"/>
                </a:solidFill>
                <a:latin typeface="Quattrocento"/>
                <a:ea typeface="Quattrocento"/>
                <a:cs typeface="Quattrocento"/>
                <a:sym typeface="Quattrocento"/>
              </a:rPr>
              <a:t>Each customer departure represents a significant loss, not just in revenue but in relationships with businesses that rely on PowerCo.</a:t>
            </a:r>
          </a:p>
          <a:p>
            <a:pPr algn="l">
              <a:lnSpc>
                <a:spcPts val="3057"/>
              </a:lnSpc>
            </a:pPr>
          </a:p>
        </p:txBody>
      </p:sp>
      <p:sp>
        <p:nvSpPr>
          <p:cNvPr name="TextBox 8" id="8"/>
          <p:cNvSpPr txBox="true"/>
          <p:nvPr/>
        </p:nvSpPr>
        <p:spPr>
          <a:xfrm rot="0">
            <a:off x="7406926" y="3654876"/>
            <a:ext cx="4646926" cy="5575972"/>
          </a:xfrm>
          <a:prstGeom prst="rect">
            <a:avLst/>
          </a:prstGeom>
        </p:spPr>
        <p:txBody>
          <a:bodyPr anchor="t" rtlCol="false" tIns="0" lIns="0" bIns="0" rIns="0">
            <a:spAutoFit/>
          </a:bodyPr>
          <a:lstStyle/>
          <a:p>
            <a:pPr algn="l" marL="453079" indent="-226540" lvl="1">
              <a:lnSpc>
                <a:spcPts val="2937"/>
              </a:lnSpc>
              <a:buFont typeface="Arial"/>
              <a:buChar char="•"/>
            </a:pPr>
            <a:r>
              <a:rPr lang="en-US" sz="2098">
                <a:solidFill>
                  <a:srgbClr val="2B2A27"/>
                </a:solidFill>
                <a:latin typeface="Quattrocento"/>
                <a:ea typeface="Quattrocento"/>
                <a:cs typeface="Quattrocento"/>
                <a:sym typeface="Quattrocento"/>
              </a:rPr>
              <a:t>BCG Engagement:</a:t>
            </a:r>
          </a:p>
          <a:p>
            <a:pPr algn="l" marL="906158" indent="-302053" lvl="2">
              <a:lnSpc>
                <a:spcPts val="2937"/>
              </a:lnSpc>
              <a:buFont typeface="Arial"/>
              <a:buChar char="⚬"/>
            </a:pPr>
            <a:r>
              <a:rPr lang="en-US" sz="2098">
                <a:solidFill>
                  <a:srgbClr val="2B2A27"/>
                </a:solidFill>
                <a:latin typeface="Quattrocento"/>
                <a:ea typeface="Quattrocento"/>
                <a:cs typeface="Quattrocento"/>
                <a:sym typeface="Quattrocento"/>
              </a:rPr>
              <a:t>PowerCo has partnered with the Boston Consulting Group (BCG) to address this pressing issue.</a:t>
            </a:r>
          </a:p>
          <a:p>
            <a:pPr algn="l" marL="906158" indent="-302053" lvl="2">
              <a:lnSpc>
                <a:spcPts val="2937"/>
              </a:lnSpc>
              <a:buFont typeface="Arial"/>
              <a:buChar char="⚬"/>
            </a:pPr>
            <a:r>
              <a:rPr lang="en-US" sz="2098">
                <a:solidFill>
                  <a:srgbClr val="2B2A27"/>
                </a:solidFill>
                <a:latin typeface="Quattrocento"/>
                <a:ea typeface="Quattrocento"/>
                <a:cs typeface="Quattrocento"/>
                <a:sym typeface="Quattrocento"/>
              </a:rPr>
              <a:t>The focus will be on understanding the reasons behind customer defections.</a:t>
            </a:r>
          </a:p>
          <a:p>
            <a:pPr algn="l" marL="453079" indent="-226540" lvl="1">
              <a:lnSpc>
                <a:spcPts val="2937"/>
              </a:lnSpc>
              <a:buFont typeface="Arial"/>
              <a:buChar char="•"/>
            </a:pPr>
            <a:r>
              <a:rPr lang="en-US" sz="2098">
                <a:solidFill>
                  <a:srgbClr val="2B2A27"/>
                </a:solidFill>
                <a:latin typeface="Quattrocento"/>
                <a:ea typeface="Quattrocento"/>
                <a:cs typeface="Quattrocento"/>
                <a:sym typeface="Quattrocento"/>
              </a:rPr>
              <a:t>Goals:</a:t>
            </a:r>
          </a:p>
          <a:p>
            <a:pPr algn="l" marL="906158" indent="-302053" lvl="2">
              <a:lnSpc>
                <a:spcPts val="2937"/>
              </a:lnSpc>
              <a:buFont typeface="Arial"/>
              <a:buChar char="⚬"/>
            </a:pPr>
            <a:r>
              <a:rPr lang="en-US" sz="2098">
                <a:solidFill>
                  <a:srgbClr val="2B2A27"/>
                </a:solidFill>
                <a:latin typeface="Quattrocento"/>
                <a:ea typeface="Quattrocento"/>
                <a:cs typeface="Quattrocento"/>
                <a:sym typeface="Quattrocento"/>
              </a:rPr>
              <a:t>Identify key drivers of churn.</a:t>
            </a:r>
          </a:p>
          <a:p>
            <a:pPr algn="l" marL="906158" indent="-302053" lvl="2">
              <a:lnSpc>
                <a:spcPts val="2937"/>
              </a:lnSpc>
              <a:buFont typeface="Arial"/>
              <a:buChar char="⚬"/>
            </a:pPr>
            <a:r>
              <a:rPr lang="en-US" sz="2098">
                <a:solidFill>
                  <a:srgbClr val="2B2A27"/>
                </a:solidFill>
                <a:latin typeface="Quattrocento"/>
                <a:ea typeface="Quattrocento"/>
                <a:cs typeface="Quattrocento"/>
                <a:sym typeface="Quattrocento"/>
              </a:rPr>
              <a:t>Develop actionable strategies to enhance customer loyalty.</a:t>
            </a:r>
          </a:p>
          <a:p>
            <a:pPr algn="l" marL="906158" indent="-302053" lvl="2">
              <a:lnSpc>
                <a:spcPts val="2937"/>
              </a:lnSpc>
              <a:buFont typeface="Arial"/>
              <a:buChar char="⚬"/>
            </a:pPr>
            <a:r>
              <a:rPr lang="en-US" sz="2098">
                <a:solidFill>
                  <a:srgbClr val="2B2A27"/>
                </a:solidFill>
                <a:latin typeface="Quattrocento"/>
                <a:ea typeface="Quattrocento"/>
                <a:cs typeface="Quattrocento"/>
                <a:sym typeface="Quattrocento"/>
              </a:rPr>
              <a:t>Strengthen overall customer experience.</a:t>
            </a:r>
          </a:p>
          <a:p>
            <a:pPr algn="l">
              <a:lnSpc>
                <a:spcPts val="293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A601C"/>
        </a:solidFill>
      </p:bgPr>
    </p:bg>
    <p:spTree>
      <p:nvGrpSpPr>
        <p:cNvPr id="1" name=""/>
        <p:cNvGrpSpPr/>
        <p:nvPr/>
      </p:nvGrpSpPr>
      <p:grpSpPr>
        <a:xfrm>
          <a:off x="0" y="0"/>
          <a:ext cx="0" cy="0"/>
          <a:chOff x="0" y="0"/>
          <a:chExt cx="0" cy="0"/>
        </a:xfrm>
      </p:grpSpPr>
      <p:sp>
        <p:nvSpPr>
          <p:cNvPr name="TextBox 2" id="2"/>
          <p:cNvSpPr txBox="true"/>
          <p:nvPr/>
        </p:nvSpPr>
        <p:spPr>
          <a:xfrm rot="0">
            <a:off x="5947975" y="2573032"/>
            <a:ext cx="7696814" cy="2428351"/>
          </a:xfrm>
          <a:prstGeom prst="rect">
            <a:avLst/>
          </a:prstGeom>
        </p:spPr>
        <p:txBody>
          <a:bodyPr anchor="t" rtlCol="false" tIns="0" lIns="0" bIns="0" rIns="0">
            <a:spAutoFit/>
          </a:bodyPr>
          <a:lstStyle/>
          <a:p>
            <a:pPr algn="l">
              <a:lnSpc>
                <a:spcPts val="10417"/>
              </a:lnSpc>
            </a:pPr>
            <a:r>
              <a:rPr lang="en-US" sz="12113" spc="-690">
                <a:solidFill>
                  <a:srgbClr val="F8F4ED"/>
                </a:solidFill>
                <a:latin typeface="Times New Roman Condensed"/>
                <a:ea typeface="Times New Roman Condensed"/>
                <a:cs typeface="Times New Roman Condensed"/>
                <a:sym typeface="Times New Roman Condensed"/>
              </a:rPr>
              <a:t>Complication</a:t>
            </a:r>
          </a:p>
          <a:p>
            <a:pPr algn="l">
              <a:lnSpc>
                <a:spcPts val="6634"/>
              </a:lnSpc>
            </a:pPr>
            <a:r>
              <a:rPr lang="en-US" sz="7714" spc="-439">
                <a:solidFill>
                  <a:srgbClr val="F8F4ED"/>
                </a:solidFill>
                <a:latin typeface="Times New Roman Condensed"/>
                <a:ea typeface="Times New Roman Condensed"/>
                <a:cs typeface="Times New Roman Condensed"/>
                <a:sym typeface="Times New Roman Condensed"/>
              </a:rPr>
              <a:t>(Problem)</a:t>
            </a:r>
          </a:p>
        </p:txBody>
      </p:sp>
      <p:sp>
        <p:nvSpPr>
          <p:cNvPr name="TextBox 3" id="3"/>
          <p:cNvSpPr txBox="true"/>
          <p:nvPr/>
        </p:nvSpPr>
        <p:spPr>
          <a:xfrm rot="0">
            <a:off x="1079166" y="1972957"/>
            <a:ext cx="4755373" cy="3648747"/>
          </a:xfrm>
          <a:prstGeom prst="rect">
            <a:avLst/>
          </a:prstGeom>
        </p:spPr>
        <p:txBody>
          <a:bodyPr anchor="t" rtlCol="false" tIns="0" lIns="0" bIns="0" rIns="0">
            <a:spAutoFit/>
          </a:bodyPr>
          <a:lstStyle/>
          <a:p>
            <a:pPr algn="l">
              <a:lnSpc>
                <a:spcPts val="3637"/>
              </a:lnSpc>
            </a:pPr>
            <a:r>
              <a:rPr lang="en-US" sz="2598" u="sng">
                <a:solidFill>
                  <a:srgbClr val="FFFFFF"/>
                </a:solidFill>
                <a:latin typeface="Quattrocento"/>
                <a:ea typeface="Quattrocento"/>
                <a:cs typeface="Quattrocento"/>
                <a:sym typeface="Quattrocento"/>
              </a:rPr>
              <a:t>PRICE:</a:t>
            </a:r>
          </a:p>
          <a:p>
            <a:pPr algn="l">
              <a:lnSpc>
                <a:spcPts val="3637"/>
              </a:lnSpc>
            </a:pPr>
            <a:r>
              <a:rPr lang="en-US" sz="2598">
                <a:solidFill>
                  <a:srgbClr val="FFFFFF"/>
                </a:solidFill>
                <a:latin typeface="Quattrocento"/>
                <a:ea typeface="Quattrocento"/>
                <a:cs typeface="Quattrocento"/>
                <a:sym typeface="Quattrocento"/>
              </a:rPr>
              <a:t>Customers are always seeking the best value for their money. If a competitor offers lower rates or more favorable pricing, customers may be switch providers.</a:t>
            </a:r>
          </a:p>
          <a:p>
            <a:pPr algn="l">
              <a:lnSpc>
                <a:spcPts val="3637"/>
              </a:lnSpc>
            </a:pPr>
          </a:p>
        </p:txBody>
      </p:sp>
      <p:sp>
        <p:nvSpPr>
          <p:cNvPr name="AutoShape 4" id="4"/>
          <p:cNvSpPr/>
          <p:nvPr/>
        </p:nvSpPr>
        <p:spPr>
          <a:xfrm>
            <a:off x="1028694" y="9267825"/>
            <a:ext cx="16230600" cy="9525"/>
          </a:xfrm>
          <a:prstGeom prst="line">
            <a:avLst/>
          </a:prstGeom>
          <a:ln cap="flat" w="19050">
            <a:solidFill>
              <a:srgbClr val="F8F4ED"/>
            </a:solidFill>
            <a:prstDash val="solid"/>
            <a:headEnd type="none" len="sm" w="sm"/>
            <a:tailEnd type="none" len="sm" w="sm"/>
          </a:ln>
        </p:spPr>
      </p:sp>
      <p:sp>
        <p:nvSpPr>
          <p:cNvPr name="TextBox 5" id="5"/>
          <p:cNvSpPr txBox="true"/>
          <p:nvPr/>
        </p:nvSpPr>
        <p:spPr>
          <a:xfrm rot="0">
            <a:off x="5834539" y="5622981"/>
            <a:ext cx="7295900" cy="3225541"/>
          </a:xfrm>
          <a:prstGeom prst="rect">
            <a:avLst/>
          </a:prstGeom>
        </p:spPr>
        <p:txBody>
          <a:bodyPr anchor="t" rtlCol="false" tIns="0" lIns="0" bIns="0" rIns="0">
            <a:spAutoFit/>
          </a:bodyPr>
          <a:lstStyle/>
          <a:p>
            <a:pPr algn="l">
              <a:lnSpc>
                <a:spcPts val="3479"/>
              </a:lnSpc>
            </a:pPr>
            <a:r>
              <a:rPr lang="en-US" sz="2485" u="sng">
                <a:solidFill>
                  <a:srgbClr val="F8F4ED"/>
                </a:solidFill>
                <a:latin typeface="Quattrocento"/>
                <a:ea typeface="Quattrocento"/>
                <a:cs typeface="Quattrocento"/>
                <a:sym typeface="Quattrocento"/>
              </a:rPr>
              <a:t>Lack of Innovations</a:t>
            </a:r>
            <a:r>
              <a:rPr lang="en-US" sz="2485">
                <a:solidFill>
                  <a:srgbClr val="F8F4ED"/>
                </a:solidFill>
                <a:latin typeface="Quattrocento"/>
                <a:ea typeface="Quattrocento"/>
                <a:cs typeface="Quattrocento"/>
                <a:sym typeface="Quattrocento"/>
              </a:rPr>
              <a:t>:</a:t>
            </a:r>
          </a:p>
          <a:p>
            <a:pPr algn="l" marL="493371" indent="-246685" lvl="1">
              <a:lnSpc>
                <a:spcPts val="3199"/>
              </a:lnSpc>
              <a:buFont typeface="Arial"/>
              <a:buChar char="•"/>
            </a:pPr>
            <a:r>
              <a:rPr lang="en-US" sz="2285">
                <a:solidFill>
                  <a:srgbClr val="F8F4ED"/>
                </a:solidFill>
                <a:latin typeface="Quattrocento"/>
                <a:ea typeface="Quattrocento"/>
                <a:cs typeface="Quattrocento"/>
                <a:sym typeface="Quattrocento"/>
              </a:rPr>
              <a:t>The lack of advanced technology offerings can result in customer dissatisfaction. As customers seek better tools to manage their energy consumption, the absence of such innovations can lead to reduced loyalty and potential loss of customers to competitors that offer these options.</a:t>
            </a:r>
          </a:p>
          <a:p>
            <a:pPr algn="l">
              <a:lnSpc>
                <a:spcPts val="3199"/>
              </a:lnSpc>
            </a:pPr>
          </a:p>
        </p:txBody>
      </p:sp>
      <p:grpSp>
        <p:nvGrpSpPr>
          <p:cNvPr name="Group 6" id="6"/>
          <p:cNvGrpSpPr/>
          <p:nvPr/>
        </p:nvGrpSpPr>
        <p:grpSpPr>
          <a:xfrm rot="0">
            <a:off x="-390162" y="6083270"/>
            <a:ext cx="6224700" cy="2549667"/>
            <a:chOff x="0" y="0"/>
            <a:chExt cx="1732126" cy="709487"/>
          </a:xfrm>
        </p:grpSpPr>
        <p:sp>
          <p:nvSpPr>
            <p:cNvPr name="Freeform 7" id="7"/>
            <p:cNvSpPr/>
            <p:nvPr/>
          </p:nvSpPr>
          <p:spPr>
            <a:xfrm flipH="false" flipV="false" rot="0">
              <a:off x="0" y="0"/>
              <a:ext cx="1732126" cy="709487"/>
            </a:xfrm>
            <a:custGeom>
              <a:avLst/>
              <a:gdLst/>
              <a:ahLst/>
              <a:cxnLst/>
              <a:rect r="r" b="b" t="t" l="l"/>
              <a:pathLst>
                <a:path h="709487" w="1732126">
                  <a:moveTo>
                    <a:pt x="0" y="0"/>
                  </a:moveTo>
                  <a:lnTo>
                    <a:pt x="1732126" y="0"/>
                  </a:lnTo>
                  <a:lnTo>
                    <a:pt x="1732126" y="709487"/>
                  </a:lnTo>
                  <a:lnTo>
                    <a:pt x="0" y="709487"/>
                  </a:lnTo>
                  <a:close/>
                </a:path>
              </a:pathLst>
            </a:custGeom>
            <a:blipFill>
              <a:blip r:embed="rId2"/>
              <a:stretch>
                <a:fillRect l="0" t="-31328" r="0" b="-31328"/>
              </a:stretch>
            </a:blipFill>
          </p:spPr>
        </p:sp>
      </p:grpSp>
      <p:grpSp>
        <p:nvGrpSpPr>
          <p:cNvPr name="Group 8" id="8"/>
          <p:cNvGrpSpPr/>
          <p:nvPr/>
        </p:nvGrpSpPr>
        <p:grpSpPr>
          <a:xfrm rot="0">
            <a:off x="13730514" y="1311163"/>
            <a:ext cx="4947648" cy="7214208"/>
            <a:chOff x="0" y="0"/>
            <a:chExt cx="1376765" cy="2007473"/>
          </a:xfrm>
        </p:grpSpPr>
        <p:sp>
          <p:nvSpPr>
            <p:cNvPr name="Freeform 9" id="9"/>
            <p:cNvSpPr/>
            <p:nvPr/>
          </p:nvSpPr>
          <p:spPr>
            <a:xfrm flipH="false" flipV="false" rot="0">
              <a:off x="0" y="0"/>
              <a:ext cx="1376765" cy="2007473"/>
            </a:xfrm>
            <a:custGeom>
              <a:avLst/>
              <a:gdLst/>
              <a:ahLst/>
              <a:cxnLst/>
              <a:rect r="r" b="b" t="t" l="l"/>
              <a:pathLst>
                <a:path h="2007473" w="1376765">
                  <a:moveTo>
                    <a:pt x="0" y="0"/>
                  </a:moveTo>
                  <a:lnTo>
                    <a:pt x="1376765" y="0"/>
                  </a:lnTo>
                  <a:lnTo>
                    <a:pt x="1376765" y="2007473"/>
                  </a:lnTo>
                  <a:lnTo>
                    <a:pt x="0" y="2007473"/>
                  </a:lnTo>
                  <a:close/>
                </a:path>
              </a:pathLst>
            </a:custGeom>
            <a:blipFill>
              <a:blip r:embed="rId3"/>
              <a:stretch>
                <a:fillRect l="0" t="-1468" r="0" b="-1468"/>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A601C"/>
        </a:solidFill>
      </p:bgPr>
    </p:bg>
    <p:spTree>
      <p:nvGrpSpPr>
        <p:cNvPr id="1" name=""/>
        <p:cNvGrpSpPr/>
        <p:nvPr/>
      </p:nvGrpSpPr>
      <p:grpSpPr>
        <a:xfrm>
          <a:off x="0" y="0"/>
          <a:ext cx="0" cy="0"/>
          <a:chOff x="0" y="0"/>
          <a:chExt cx="0" cy="0"/>
        </a:xfrm>
      </p:grpSpPr>
      <p:sp>
        <p:nvSpPr>
          <p:cNvPr name="TextBox 2" id="2"/>
          <p:cNvSpPr txBox="true"/>
          <p:nvPr/>
        </p:nvSpPr>
        <p:spPr>
          <a:xfrm rot="0">
            <a:off x="1028700" y="1665530"/>
            <a:ext cx="7423626" cy="2504139"/>
          </a:xfrm>
          <a:prstGeom prst="rect">
            <a:avLst/>
          </a:prstGeom>
        </p:spPr>
        <p:txBody>
          <a:bodyPr anchor="t" rtlCol="false" tIns="0" lIns="0" bIns="0" rIns="0">
            <a:spAutoFit/>
          </a:bodyPr>
          <a:lstStyle/>
          <a:p>
            <a:pPr algn="l">
              <a:lnSpc>
                <a:spcPts val="15518"/>
              </a:lnSpc>
            </a:pPr>
            <a:r>
              <a:rPr lang="en-US" sz="18044" spc="-1028">
                <a:solidFill>
                  <a:srgbClr val="F8F4ED"/>
                </a:solidFill>
                <a:latin typeface="Times New Roman Condensed"/>
                <a:ea typeface="Times New Roman Condensed"/>
                <a:cs typeface="Times New Roman Condensed"/>
                <a:sym typeface="Times New Roman Condensed"/>
              </a:rPr>
              <a:t>Solution</a:t>
            </a:r>
          </a:p>
        </p:txBody>
      </p:sp>
      <p:sp>
        <p:nvSpPr>
          <p:cNvPr name="TextBox 3" id="3"/>
          <p:cNvSpPr txBox="true"/>
          <p:nvPr/>
        </p:nvSpPr>
        <p:spPr>
          <a:xfrm rot="0">
            <a:off x="2779839" y="4337822"/>
            <a:ext cx="7737504" cy="2634651"/>
          </a:xfrm>
          <a:prstGeom prst="rect">
            <a:avLst/>
          </a:prstGeom>
        </p:spPr>
        <p:txBody>
          <a:bodyPr anchor="t" rtlCol="false" tIns="0" lIns="0" bIns="0" rIns="0">
            <a:spAutoFit/>
          </a:bodyPr>
          <a:lstStyle/>
          <a:p>
            <a:pPr algn="l">
              <a:lnSpc>
                <a:spcPts val="2377"/>
              </a:lnSpc>
            </a:pPr>
            <a:r>
              <a:rPr lang="en-US" sz="1698">
                <a:solidFill>
                  <a:srgbClr val="F8F4ED"/>
                </a:solidFill>
                <a:latin typeface="Quattrocento"/>
                <a:ea typeface="Quattrocento"/>
                <a:cs typeface="Quattrocento"/>
                <a:sym typeface="Quattrocento"/>
              </a:rPr>
              <a:t>Investing in Technology:Implement smart metering and automation to enhance service efficiency and customer experience.</a:t>
            </a:r>
          </a:p>
          <a:p>
            <a:pPr algn="l" marL="366721" indent="-183361" lvl="1">
              <a:lnSpc>
                <a:spcPts val="2377"/>
              </a:lnSpc>
              <a:buFont typeface="Arial"/>
              <a:buChar char="•"/>
            </a:pPr>
            <a:r>
              <a:rPr lang="en-US" sz="1698">
                <a:solidFill>
                  <a:srgbClr val="F8F4ED"/>
                </a:solidFill>
                <a:latin typeface="Quattrocento"/>
                <a:ea typeface="Quattrocento"/>
                <a:cs typeface="Quattrocento"/>
                <a:sym typeface="Quattrocento"/>
              </a:rPr>
              <a:t>Customers always looking for </a:t>
            </a:r>
            <a:r>
              <a:rPr lang="en-US" b="true" sz="1698">
                <a:solidFill>
                  <a:srgbClr val="F8F4ED"/>
                </a:solidFill>
                <a:latin typeface="Quattrocento Bold"/>
                <a:ea typeface="Quattrocento Bold"/>
                <a:cs typeface="Quattrocento Bold"/>
                <a:sym typeface="Quattrocento Bold"/>
              </a:rPr>
              <a:t>advanced technology</a:t>
            </a:r>
            <a:r>
              <a:rPr lang="en-US" sz="1698">
                <a:solidFill>
                  <a:srgbClr val="F8F4ED"/>
                </a:solidFill>
                <a:latin typeface="Quattrocento"/>
                <a:ea typeface="Quattrocento"/>
                <a:cs typeface="Quattrocento"/>
                <a:sym typeface="Quattrocento"/>
              </a:rPr>
              <a:t>, such as smart meters and energy tracking devices, which provide greater control over energy usage. Lack of such </a:t>
            </a:r>
            <a:r>
              <a:rPr lang="en-US" b="true" sz="1698">
                <a:solidFill>
                  <a:srgbClr val="F8F4ED"/>
                </a:solidFill>
                <a:latin typeface="Quattrocento Bold"/>
                <a:ea typeface="Quattrocento Bold"/>
                <a:cs typeface="Quattrocento Bold"/>
                <a:sym typeface="Quattrocento Bold"/>
              </a:rPr>
              <a:t>innovations</a:t>
            </a:r>
            <a:r>
              <a:rPr lang="en-US" sz="1698">
                <a:solidFill>
                  <a:srgbClr val="F8F4ED"/>
                </a:solidFill>
                <a:latin typeface="Quattrocento"/>
                <a:ea typeface="Quattrocento"/>
                <a:cs typeface="Quattrocento"/>
                <a:sym typeface="Quattrocento"/>
              </a:rPr>
              <a:t> can result in customers seeking alternatives</a:t>
            </a:r>
          </a:p>
          <a:p>
            <a:pPr algn="l" marL="366721" indent="-183361" lvl="1">
              <a:lnSpc>
                <a:spcPts val="2377"/>
              </a:lnSpc>
              <a:buFont typeface="Arial"/>
              <a:buChar char="•"/>
            </a:pPr>
            <a:r>
              <a:rPr lang="en-US" sz="1698">
                <a:solidFill>
                  <a:srgbClr val="F8F4ED"/>
                </a:solidFill>
                <a:latin typeface="Quattrocento"/>
                <a:ea typeface="Quattrocento"/>
                <a:cs typeface="Quattrocento"/>
                <a:sym typeface="Quattrocento"/>
              </a:rPr>
              <a:t>A decline in customer retention directly affects</a:t>
            </a:r>
            <a:r>
              <a:rPr lang="en-US" b="true" sz="1698">
                <a:solidFill>
                  <a:srgbClr val="F8F4ED"/>
                </a:solidFill>
                <a:latin typeface="Quattrocento Bold"/>
                <a:ea typeface="Quattrocento Bold"/>
                <a:cs typeface="Quattrocento Bold"/>
                <a:sym typeface="Quattrocento Bold"/>
              </a:rPr>
              <a:t> recurring revenue</a:t>
            </a:r>
            <a:r>
              <a:rPr lang="en-US" sz="1698">
                <a:solidFill>
                  <a:srgbClr val="F8F4ED"/>
                </a:solidFill>
                <a:latin typeface="Quattrocento"/>
                <a:ea typeface="Quattrocento"/>
                <a:cs typeface="Quattrocento"/>
                <a:sym typeface="Quattrocento"/>
              </a:rPr>
              <a:t> streams, making it more </a:t>
            </a:r>
            <a:r>
              <a:rPr lang="en-US" b="true" sz="1698">
                <a:solidFill>
                  <a:srgbClr val="F8F4ED"/>
                </a:solidFill>
                <a:latin typeface="Quattrocento Bold"/>
                <a:ea typeface="Quattrocento Bold"/>
                <a:cs typeface="Quattrocento Bold"/>
                <a:sym typeface="Quattrocento Bold"/>
              </a:rPr>
              <a:t>difficult</a:t>
            </a:r>
            <a:r>
              <a:rPr lang="en-US" sz="1698">
                <a:solidFill>
                  <a:srgbClr val="F8F4ED"/>
                </a:solidFill>
                <a:latin typeface="Quattrocento"/>
                <a:ea typeface="Quattrocento"/>
                <a:cs typeface="Quattrocento"/>
                <a:sym typeface="Quattrocento"/>
              </a:rPr>
              <a:t> for PowerCo to maintain stable profitability.</a:t>
            </a:r>
          </a:p>
          <a:p>
            <a:pPr algn="l">
              <a:lnSpc>
                <a:spcPts val="2238"/>
              </a:lnSpc>
            </a:pPr>
          </a:p>
        </p:txBody>
      </p:sp>
      <p:grpSp>
        <p:nvGrpSpPr>
          <p:cNvPr name="Group 4" id="4"/>
          <p:cNvGrpSpPr>
            <a:grpSpLocks noChangeAspect="true"/>
          </p:cNvGrpSpPr>
          <p:nvPr/>
        </p:nvGrpSpPr>
        <p:grpSpPr>
          <a:xfrm rot="0">
            <a:off x="13943827" y="-601870"/>
            <a:ext cx="4958235" cy="5760032"/>
            <a:chOff x="0" y="0"/>
            <a:chExt cx="5466080" cy="6350000"/>
          </a:xfrm>
        </p:grpSpPr>
        <p:sp>
          <p:nvSpPr>
            <p:cNvPr name="Freeform 5" id="5"/>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6" id="6"/>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2"/>
              <a:stretch>
                <a:fillRect l="0" t="-28027" r="0" b="-28027"/>
              </a:stretch>
            </a:blipFill>
          </p:spPr>
        </p:sp>
        <p:sp>
          <p:nvSpPr>
            <p:cNvPr name="Freeform 7" id="7"/>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8" id="8"/>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grpSp>
        <p:nvGrpSpPr>
          <p:cNvPr name="Group 9" id="9"/>
          <p:cNvGrpSpPr>
            <a:grpSpLocks noChangeAspect="true"/>
          </p:cNvGrpSpPr>
          <p:nvPr/>
        </p:nvGrpSpPr>
        <p:grpSpPr>
          <a:xfrm rot="-588605">
            <a:off x="11113315" y="1912698"/>
            <a:ext cx="4185337" cy="4862148"/>
            <a:chOff x="0" y="0"/>
            <a:chExt cx="5466080" cy="6350000"/>
          </a:xfrm>
        </p:grpSpPr>
        <p:sp>
          <p:nvSpPr>
            <p:cNvPr name="Freeform 10" id="10"/>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11" id="11"/>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3"/>
              <a:stretch>
                <a:fillRect l="-35333" t="0" r="-35333" b="0"/>
              </a:stretch>
            </a:blipFill>
          </p:spPr>
        </p:sp>
        <p:sp>
          <p:nvSpPr>
            <p:cNvPr name="Freeform 12" id="12"/>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3" id="13"/>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grpSp>
        <p:nvGrpSpPr>
          <p:cNvPr name="Group 14" id="14"/>
          <p:cNvGrpSpPr/>
          <p:nvPr/>
        </p:nvGrpSpPr>
        <p:grpSpPr>
          <a:xfrm rot="0">
            <a:off x="2979009" y="7275260"/>
            <a:ext cx="982111" cy="982111"/>
            <a:chOff x="0" y="0"/>
            <a:chExt cx="1309482" cy="1309482"/>
          </a:xfrm>
        </p:grpSpPr>
        <p:grpSp>
          <p:nvGrpSpPr>
            <p:cNvPr name="Group 15" id="15"/>
            <p:cNvGrpSpPr/>
            <p:nvPr/>
          </p:nvGrpSpPr>
          <p:grpSpPr>
            <a:xfrm rot="0">
              <a:off x="0" y="0"/>
              <a:ext cx="1309482" cy="130948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F8F4ED"/>
                </a:solidFill>
                <a:prstDash val="solid"/>
                <a:miter/>
              </a:ln>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497"/>
                  </a:lnSpc>
                </a:pPr>
              </a:p>
            </p:txBody>
          </p:sp>
        </p:grpSp>
        <p:sp>
          <p:nvSpPr>
            <p:cNvPr name="AutoShape 18" id="18"/>
            <p:cNvSpPr/>
            <p:nvPr/>
          </p:nvSpPr>
          <p:spPr>
            <a:xfrm>
              <a:off x="300887" y="654741"/>
              <a:ext cx="711321" cy="0"/>
            </a:xfrm>
            <a:prstGeom prst="line">
              <a:avLst/>
            </a:prstGeom>
            <a:ln cap="rnd" w="43270">
              <a:solidFill>
                <a:srgbClr val="F8F4ED"/>
              </a:solidFill>
              <a:prstDash val="solid"/>
              <a:headEnd type="none" len="sm" w="sm"/>
              <a:tailEnd type="arrow" len="sm" w="med"/>
            </a:ln>
          </p:spPr>
        </p:sp>
      </p:grpSp>
      <p:sp>
        <p:nvSpPr>
          <p:cNvPr name="AutoShape 19" id="19"/>
          <p:cNvSpPr/>
          <p:nvPr/>
        </p:nvSpPr>
        <p:spPr>
          <a:xfrm>
            <a:off x="1975806" y="4492405"/>
            <a:ext cx="0" cy="4149179"/>
          </a:xfrm>
          <a:prstGeom prst="line">
            <a:avLst/>
          </a:prstGeom>
          <a:ln cap="flat" w="38100">
            <a:solidFill>
              <a:srgbClr val="F8F4ED"/>
            </a:solidFill>
            <a:prstDash val="solid"/>
            <a:headEnd type="none" len="sm" w="sm"/>
            <a:tailEnd type="none" len="sm" w="sm"/>
          </a:ln>
        </p:spPr>
      </p:sp>
      <p:grpSp>
        <p:nvGrpSpPr>
          <p:cNvPr name="Group 20" id="20"/>
          <p:cNvGrpSpPr>
            <a:grpSpLocks noChangeAspect="true"/>
          </p:cNvGrpSpPr>
          <p:nvPr/>
        </p:nvGrpSpPr>
        <p:grpSpPr>
          <a:xfrm rot="218128">
            <a:off x="13192471" y="4545517"/>
            <a:ext cx="5854794" cy="6801573"/>
            <a:chOff x="0" y="0"/>
            <a:chExt cx="5466080" cy="6350000"/>
          </a:xfrm>
        </p:grpSpPr>
        <p:sp>
          <p:nvSpPr>
            <p:cNvPr name="Freeform 21" id="21"/>
            <p:cNvSpPr/>
            <p:nvPr/>
          </p:nvSpPr>
          <p:spPr>
            <a:xfrm flipH="false" flipV="false" rot="0">
              <a:off x="0" y="0"/>
              <a:ext cx="5439410" cy="6348730"/>
            </a:xfrm>
            <a:custGeom>
              <a:avLst/>
              <a:gdLst/>
              <a:ahLst/>
              <a:cxnLst/>
              <a:rect r="r" b="b" t="t" l="l"/>
              <a:pathLst>
                <a:path h="6348730" w="543941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22" id="22"/>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4"/>
              <a:stretch>
                <a:fillRect l="0" t="-28173" r="0" b="-28173"/>
              </a:stretch>
            </a:blipFill>
          </p:spPr>
        </p:sp>
        <p:sp>
          <p:nvSpPr>
            <p:cNvPr name="Freeform 23" id="23"/>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24" id="24"/>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sp>
        <p:nvSpPr>
          <p:cNvPr name="TextBox 25" id="25"/>
          <p:cNvSpPr txBox="true"/>
          <p:nvPr/>
        </p:nvSpPr>
        <p:spPr>
          <a:xfrm rot="0">
            <a:off x="2768935" y="3836893"/>
            <a:ext cx="7737504" cy="349287"/>
          </a:xfrm>
          <a:prstGeom prst="rect">
            <a:avLst/>
          </a:prstGeom>
        </p:spPr>
        <p:txBody>
          <a:bodyPr anchor="t" rtlCol="false" tIns="0" lIns="0" bIns="0" rIns="0">
            <a:spAutoFit/>
          </a:bodyPr>
          <a:lstStyle/>
          <a:p>
            <a:pPr algn="l">
              <a:lnSpc>
                <a:spcPts val="2797"/>
              </a:lnSpc>
            </a:pPr>
            <a:r>
              <a:rPr lang="en-US" b="true" sz="1998">
                <a:solidFill>
                  <a:srgbClr val="F8F4ED"/>
                </a:solidFill>
                <a:latin typeface="Quattrocento Bold"/>
                <a:ea typeface="Quattrocento Bold"/>
                <a:cs typeface="Quattrocento Bold"/>
                <a:sym typeface="Quattrocento Bold"/>
              </a:rPr>
              <a:t>RECOMMENDATION 1</a:t>
            </a:r>
          </a:p>
        </p:txBody>
      </p:sp>
      <p:sp>
        <p:nvSpPr>
          <p:cNvPr name="TextBox 26" id="26"/>
          <p:cNvSpPr txBox="true"/>
          <p:nvPr/>
        </p:nvSpPr>
        <p:spPr>
          <a:xfrm rot="0">
            <a:off x="4538086" y="7335693"/>
            <a:ext cx="6796174" cy="2111412"/>
          </a:xfrm>
          <a:prstGeom prst="rect">
            <a:avLst/>
          </a:prstGeom>
        </p:spPr>
        <p:txBody>
          <a:bodyPr anchor="t" rtlCol="false" tIns="0" lIns="0" bIns="0" rIns="0">
            <a:spAutoFit/>
          </a:bodyPr>
          <a:lstStyle/>
          <a:p>
            <a:pPr algn="l" marL="431490" indent="-215745" lvl="1">
              <a:lnSpc>
                <a:spcPts val="2797"/>
              </a:lnSpc>
              <a:buFont typeface="Arial"/>
              <a:buChar char="•"/>
            </a:pPr>
            <a:r>
              <a:rPr lang="en-US" sz="1998">
                <a:solidFill>
                  <a:srgbClr val="F8F4ED"/>
                </a:solidFill>
                <a:latin typeface="Quattrocento"/>
                <a:ea typeface="Quattrocento"/>
                <a:cs typeface="Quattrocento"/>
                <a:sym typeface="Quattrocento"/>
              </a:rPr>
              <a:t>Quality of Services: Customer Experience: Effective communication enhances customer satisfaction.</a:t>
            </a:r>
          </a:p>
          <a:p>
            <a:pPr algn="l" marL="431490" indent="-215745" lvl="1">
              <a:lnSpc>
                <a:spcPts val="2797"/>
              </a:lnSpc>
              <a:buFont typeface="Arial"/>
              <a:buChar char="•"/>
            </a:pPr>
            <a:r>
              <a:rPr lang="en-US" sz="1998">
                <a:solidFill>
                  <a:srgbClr val="F8F4ED"/>
                </a:solidFill>
                <a:latin typeface="Quattrocento"/>
                <a:ea typeface="Quattrocento"/>
                <a:cs typeface="Quattrocento"/>
                <a:sym typeface="Quattrocento"/>
              </a:rPr>
              <a:t>Organic Growth: Satisfied customers refer others, enhancing brand reputation.</a:t>
            </a:r>
          </a:p>
          <a:p>
            <a:pPr algn="l">
              <a:lnSpc>
                <a:spcPts val="2797"/>
              </a:lnSpc>
            </a:pPr>
          </a:p>
          <a:p>
            <a:pPr algn="l">
              <a:lnSpc>
                <a:spcPts val="2797"/>
              </a:lnSpc>
            </a:pPr>
          </a:p>
        </p:txBody>
      </p:sp>
      <p:sp>
        <p:nvSpPr>
          <p:cNvPr name="TextBox 27" id="27"/>
          <p:cNvSpPr txBox="true"/>
          <p:nvPr/>
        </p:nvSpPr>
        <p:spPr>
          <a:xfrm rot="0">
            <a:off x="4528508" y="6916448"/>
            <a:ext cx="6796174" cy="349287"/>
          </a:xfrm>
          <a:prstGeom prst="rect">
            <a:avLst/>
          </a:prstGeom>
        </p:spPr>
        <p:txBody>
          <a:bodyPr anchor="t" rtlCol="false" tIns="0" lIns="0" bIns="0" rIns="0">
            <a:spAutoFit/>
          </a:bodyPr>
          <a:lstStyle/>
          <a:p>
            <a:pPr algn="l">
              <a:lnSpc>
                <a:spcPts val="2797"/>
              </a:lnSpc>
            </a:pPr>
            <a:r>
              <a:rPr lang="en-US" b="true" sz="1998">
                <a:solidFill>
                  <a:srgbClr val="F8F4ED"/>
                </a:solidFill>
                <a:latin typeface="Quattrocento Bold"/>
                <a:ea typeface="Quattrocento Bold"/>
                <a:cs typeface="Quattrocento Bold"/>
                <a:sym typeface="Quattrocento Bold"/>
              </a:rPr>
              <a:t>RECOMMENDATION 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2A27"/>
        </a:solidFill>
      </p:bgPr>
    </p:bg>
    <p:spTree>
      <p:nvGrpSpPr>
        <p:cNvPr id="1" name=""/>
        <p:cNvGrpSpPr/>
        <p:nvPr/>
      </p:nvGrpSpPr>
      <p:grpSpPr>
        <a:xfrm>
          <a:off x="0" y="0"/>
          <a:ext cx="0" cy="0"/>
          <a:chOff x="0" y="0"/>
          <a:chExt cx="0" cy="0"/>
        </a:xfrm>
      </p:grpSpPr>
      <p:grpSp>
        <p:nvGrpSpPr>
          <p:cNvPr name="Group 2" id="2"/>
          <p:cNvGrpSpPr/>
          <p:nvPr/>
        </p:nvGrpSpPr>
        <p:grpSpPr>
          <a:xfrm rot="0">
            <a:off x="0" y="81669"/>
            <a:ext cx="18288000" cy="10287000"/>
            <a:chOff x="0" y="0"/>
            <a:chExt cx="24384000" cy="13716000"/>
          </a:xfrm>
        </p:grpSpPr>
        <p:pic>
          <p:nvPicPr>
            <p:cNvPr name="Picture 3" id="3"/>
            <p:cNvPicPr>
              <a:picLocks noChangeAspect="true"/>
            </p:cNvPicPr>
            <p:nvPr/>
          </p:nvPicPr>
          <p:blipFill>
            <a:blip r:embed="rId2">
              <a:alphaModFix amt="25000"/>
            </a:blip>
            <a:srcRect l="0" t="7786" r="0" b="7786"/>
            <a:stretch>
              <a:fillRect/>
            </a:stretch>
          </p:blipFill>
          <p:spPr>
            <a:xfrm flipH="false" flipV="false">
              <a:off x="0" y="0"/>
              <a:ext cx="24384000" cy="13716000"/>
            </a:xfrm>
            <a:prstGeom prst="rect">
              <a:avLst/>
            </a:prstGeom>
          </p:spPr>
        </p:pic>
      </p:grpSp>
      <p:sp>
        <p:nvSpPr>
          <p:cNvPr name="TextBox 4" id="4"/>
          <p:cNvSpPr txBox="true"/>
          <p:nvPr/>
        </p:nvSpPr>
        <p:spPr>
          <a:xfrm rot="0">
            <a:off x="1129504" y="2692183"/>
            <a:ext cx="5881706" cy="1911791"/>
          </a:xfrm>
          <a:prstGeom prst="rect">
            <a:avLst/>
          </a:prstGeom>
        </p:spPr>
        <p:txBody>
          <a:bodyPr anchor="t" rtlCol="false" tIns="0" lIns="0" bIns="0" rIns="0">
            <a:spAutoFit/>
          </a:bodyPr>
          <a:lstStyle/>
          <a:p>
            <a:pPr algn="l">
              <a:lnSpc>
                <a:spcPts val="11897"/>
              </a:lnSpc>
            </a:pPr>
            <a:r>
              <a:rPr lang="en-US" sz="13833" spc="-788">
                <a:solidFill>
                  <a:srgbClr val="DA601C"/>
                </a:solidFill>
                <a:latin typeface="Times New Roman Condensed"/>
                <a:ea typeface="Times New Roman Condensed"/>
                <a:cs typeface="Times New Roman Condensed"/>
                <a:sym typeface="Times New Roman Condensed"/>
              </a:rPr>
              <a:t>Hypothesis</a:t>
            </a:r>
          </a:p>
        </p:txBody>
      </p:sp>
      <p:sp>
        <p:nvSpPr>
          <p:cNvPr name="TextBox 5" id="5"/>
          <p:cNvSpPr txBox="true"/>
          <p:nvPr/>
        </p:nvSpPr>
        <p:spPr>
          <a:xfrm rot="0">
            <a:off x="9840979" y="2444533"/>
            <a:ext cx="6766972" cy="697312"/>
          </a:xfrm>
          <a:prstGeom prst="rect">
            <a:avLst/>
          </a:prstGeom>
        </p:spPr>
        <p:txBody>
          <a:bodyPr anchor="t" rtlCol="false" tIns="0" lIns="0" bIns="0" rIns="0">
            <a:spAutoFit/>
          </a:bodyPr>
          <a:lstStyle/>
          <a:p>
            <a:pPr algn="l">
              <a:lnSpc>
                <a:spcPts val="2791"/>
              </a:lnSpc>
            </a:pPr>
            <a:r>
              <a:rPr lang="en-US" sz="1994">
                <a:solidFill>
                  <a:srgbClr val="F8F4ED"/>
                </a:solidFill>
                <a:latin typeface="Quattrocento"/>
                <a:ea typeface="Quattrocento"/>
                <a:cs typeface="Quattrocento"/>
                <a:sym typeface="Quattrocento"/>
              </a:rPr>
              <a:t>What are the key reasons for a customer deciding to stay with or switch energy providers?</a:t>
            </a:r>
          </a:p>
        </p:txBody>
      </p:sp>
      <p:sp>
        <p:nvSpPr>
          <p:cNvPr name="TextBox 6" id="6"/>
          <p:cNvSpPr txBox="true"/>
          <p:nvPr/>
        </p:nvSpPr>
        <p:spPr>
          <a:xfrm rot="0">
            <a:off x="9812404" y="1727051"/>
            <a:ext cx="6766972" cy="539131"/>
          </a:xfrm>
          <a:prstGeom prst="rect">
            <a:avLst/>
          </a:prstGeom>
        </p:spPr>
        <p:txBody>
          <a:bodyPr anchor="t" rtlCol="false" tIns="0" lIns="0" bIns="0" rIns="0">
            <a:spAutoFit/>
          </a:bodyPr>
          <a:lstStyle/>
          <a:p>
            <a:pPr algn="l">
              <a:lnSpc>
                <a:spcPts val="4262"/>
              </a:lnSpc>
            </a:pPr>
            <a:r>
              <a:rPr lang="en-US" b="true" sz="3044">
                <a:solidFill>
                  <a:srgbClr val="DA601C"/>
                </a:solidFill>
                <a:latin typeface="Quattrocento Bold"/>
                <a:ea typeface="Quattrocento Bold"/>
                <a:cs typeface="Quattrocento Bold"/>
                <a:sym typeface="Quattrocento Bold"/>
              </a:rPr>
              <a:t>QUESTION: 1</a:t>
            </a:r>
          </a:p>
        </p:txBody>
      </p:sp>
      <p:sp>
        <p:nvSpPr>
          <p:cNvPr name="TextBox 7" id="7"/>
          <p:cNvSpPr txBox="true"/>
          <p:nvPr/>
        </p:nvSpPr>
        <p:spPr>
          <a:xfrm rot="0">
            <a:off x="9840979" y="4724400"/>
            <a:ext cx="6766972" cy="1047482"/>
          </a:xfrm>
          <a:prstGeom prst="rect">
            <a:avLst/>
          </a:prstGeom>
        </p:spPr>
        <p:txBody>
          <a:bodyPr anchor="t" rtlCol="false" tIns="0" lIns="0" bIns="0" rIns="0">
            <a:spAutoFit/>
          </a:bodyPr>
          <a:lstStyle/>
          <a:p>
            <a:pPr algn="l">
              <a:lnSpc>
                <a:spcPts val="2791"/>
              </a:lnSpc>
            </a:pPr>
            <a:r>
              <a:rPr lang="en-US" sz="1994">
                <a:solidFill>
                  <a:srgbClr val="F8F4ED"/>
                </a:solidFill>
                <a:latin typeface="Quattrocento"/>
                <a:ea typeface="Quattrocento"/>
                <a:cs typeface="Quattrocento"/>
                <a:sym typeface="Quattrocento"/>
              </a:rPr>
              <a:t>How can PowerCo leverage operational efficiencies and enhance customer engagement to improve profitability in the next year?</a:t>
            </a:r>
          </a:p>
        </p:txBody>
      </p:sp>
      <p:sp>
        <p:nvSpPr>
          <p:cNvPr name="TextBox 8" id="8"/>
          <p:cNvSpPr txBox="true"/>
          <p:nvPr/>
        </p:nvSpPr>
        <p:spPr>
          <a:xfrm rot="0">
            <a:off x="9850504" y="3909324"/>
            <a:ext cx="6766972" cy="539131"/>
          </a:xfrm>
          <a:prstGeom prst="rect">
            <a:avLst/>
          </a:prstGeom>
        </p:spPr>
        <p:txBody>
          <a:bodyPr anchor="t" rtlCol="false" tIns="0" lIns="0" bIns="0" rIns="0">
            <a:spAutoFit/>
          </a:bodyPr>
          <a:lstStyle/>
          <a:p>
            <a:pPr algn="l">
              <a:lnSpc>
                <a:spcPts val="4262"/>
              </a:lnSpc>
            </a:pPr>
            <a:r>
              <a:rPr lang="en-US" b="true" sz="3044">
                <a:solidFill>
                  <a:srgbClr val="DA601C"/>
                </a:solidFill>
                <a:latin typeface="Quattrocento Bold"/>
                <a:ea typeface="Quattrocento Bold"/>
                <a:cs typeface="Quattrocento Bold"/>
                <a:sym typeface="Quattrocento Bold"/>
              </a:rPr>
              <a:t>QUESTION: 2</a:t>
            </a:r>
          </a:p>
        </p:txBody>
      </p:sp>
      <p:sp>
        <p:nvSpPr>
          <p:cNvPr name="AutoShape 9" id="9"/>
          <p:cNvSpPr/>
          <p:nvPr/>
        </p:nvSpPr>
        <p:spPr>
          <a:xfrm>
            <a:off x="1129504" y="6476126"/>
            <a:ext cx="6378233" cy="0"/>
          </a:xfrm>
          <a:prstGeom prst="line">
            <a:avLst/>
          </a:prstGeom>
          <a:ln cap="flat" w="19050">
            <a:solidFill>
              <a:srgbClr val="F8F4ED"/>
            </a:solidFill>
            <a:prstDash val="solid"/>
            <a:headEnd type="none" len="sm" w="sm"/>
            <a:tailEnd type="none" len="sm" w="sm"/>
          </a:ln>
        </p:spPr>
      </p:sp>
      <p:sp>
        <p:nvSpPr>
          <p:cNvPr name="AutoShape 10" id="10"/>
          <p:cNvSpPr/>
          <p:nvPr/>
        </p:nvSpPr>
        <p:spPr>
          <a:xfrm>
            <a:off x="9718476" y="6485651"/>
            <a:ext cx="6378233" cy="0"/>
          </a:xfrm>
          <a:prstGeom prst="line">
            <a:avLst/>
          </a:prstGeom>
          <a:ln cap="flat" w="19050">
            <a:solidFill>
              <a:srgbClr val="DA601C"/>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0101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350088" y="410756"/>
            <a:ext cx="9960155" cy="5602587"/>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83416" r="0" b="-83416"/>
              </a:stretch>
            </a:blipFill>
          </p:spPr>
        </p:sp>
        <p:sp>
          <p:nvSpPr>
            <p:cNvPr name="Freeform 4" id="4"/>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3"/>
              <a:stretch>
                <a:fillRect l="0" t="0" r="0" b="0"/>
              </a:stretch>
            </a:blipFill>
          </p:spPr>
        </p:sp>
      </p:grpSp>
      <p:sp>
        <p:nvSpPr>
          <p:cNvPr name="AutoShape 5" id="5"/>
          <p:cNvSpPr/>
          <p:nvPr/>
        </p:nvSpPr>
        <p:spPr>
          <a:xfrm flipH="true" flipV="true">
            <a:off x="1726609" y="5669132"/>
            <a:ext cx="0" cy="2801009"/>
          </a:xfrm>
          <a:prstGeom prst="line">
            <a:avLst/>
          </a:prstGeom>
          <a:ln cap="flat" w="38100">
            <a:solidFill>
              <a:srgbClr val="DA601C"/>
            </a:solidFill>
            <a:prstDash val="solid"/>
            <a:headEnd type="none" len="sm" w="sm"/>
            <a:tailEnd type="none" len="sm" w="sm"/>
          </a:ln>
        </p:spPr>
      </p:sp>
      <p:graphicFrame>
        <p:nvGraphicFramePr>
          <p:cNvPr name="Table 6" id="6"/>
          <p:cNvGraphicFramePr>
            <a:graphicFrameLocks noGrp="true"/>
          </p:cNvGraphicFramePr>
          <p:nvPr/>
        </p:nvGraphicFramePr>
        <p:xfrm>
          <a:off x="10472716" y="3647955"/>
          <a:ext cx="6139428" cy="6544733"/>
        </p:xfrm>
        <a:graphic>
          <a:graphicData uri="http://schemas.openxmlformats.org/drawingml/2006/table">
            <a:tbl>
              <a:tblPr/>
              <a:tblGrid>
                <a:gridCol w="2887474"/>
                <a:gridCol w="3251954"/>
              </a:tblGrid>
              <a:tr h="1011459">
                <a:tc>
                  <a:txBody>
                    <a:bodyPr anchor="t" rtlCol="false"/>
                    <a:lstStyle/>
                    <a:p>
                      <a:pPr algn="ctr">
                        <a:lnSpc>
                          <a:spcPts val="1679"/>
                        </a:lnSpc>
                        <a:defRPr/>
                      </a:pPr>
                      <a:r>
                        <a:rPr lang="en-US" sz="1200">
                          <a:solidFill>
                            <a:srgbClr val="FFFFFF"/>
                          </a:solidFill>
                          <a:latin typeface="Quattrocento"/>
                          <a:ea typeface="Quattrocento"/>
                          <a:cs typeface="Quattrocento"/>
                          <a:sym typeface="Quattrocento"/>
                        </a:rPr>
                        <a:t>Factors</a:t>
                      </a:r>
                      <a:endParaRPr lang="en-US" sz="1100"/>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c>
                  <a:txBody>
                    <a:bodyPr anchor="t" rtlCol="false"/>
                    <a:lstStyle/>
                    <a:p>
                      <a:pPr algn="ctr">
                        <a:lnSpc>
                          <a:spcPts val="1959"/>
                        </a:lnSpc>
                        <a:defRPr/>
                      </a:pPr>
                      <a:endParaRPr lang="en-US" sz="1100"/>
                    </a:p>
                    <a:p>
                      <a:pPr algn="ctr">
                        <a:lnSpc>
                          <a:spcPts val="1959"/>
                        </a:lnSpc>
                      </a:pPr>
                      <a:r>
                        <a:rPr lang="en-US" sz="1400">
                          <a:solidFill>
                            <a:srgbClr val="FFFFFF"/>
                          </a:solidFill>
                          <a:latin typeface="Quattrocento"/>
                          <a:ea typeface="Quattrocento"/>
                          <a:cs typeface="Quattrocento"/>
                          <a:sym typeface="Quattrocento"/>
                        </a:rPr>
                        <a:t>  Key Points</a:t>
                      </a:r>
                    </a:p>
                    <a:p>
                      <a:pPr algn="ctr">
                        <a:lnSpc>
                          <a:spcPts val="1959"/>
                        </a:lnSpc>
                      </a:pPr>
                      <a:r>
                        <a:rPr lang="en-US" sz="14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r>
              <a:tr h="1300447">
                <a:tc>
                  <a:txBody>
                    <a:bodyPr anchor="t" rtlCol="false"/>
                    <a:lstStyle/>
                    <a:p>
                      <a:pPr algn="ctr">
                        <a:lnSpc>
                          <a:spcPts val="1679"/>
                        </a:lnSpc>
                        <a:defRPr/>
                      </a:pPr>
                      <a:endParaRPr lang="en-US" sz="1100"/>
                    </a:p>
                    <a:p>
                      <a:pPr algn="ctr">
                        <a:lnSpc>
                          <a:spcPts val="1679"/>
                        </a:lnSpc>
                      </a:pPr>
                      <a:r>
                        <a:rPr lang="en-US" sz="1200">
                          <a:solidFill>
                            <a:srgbClr val="FFFFFF"/>
                          </a:solidFill>
                          <a:latin typeface="Quattrocento"/>
                          <a:ea typeface="Quattrocento"/>
                          <a:cs typeface="Quattrocento"/>
                          <a:sym typeface="Quattrocento"/>
                        </a:rPr>
                        <a:t>  Price Sensitivity</a:t>
                      </a:r>
                    </a:p>
                    <a:p>
                      <a:pPr algn="ctr">
                        <a:lnSpc>
                          <a:spcPts val="1679"/>
                        </a:lnSpc>
                      </a:pPr>
                      <a:r>
                        <a:rPr lang="en-US" sz="12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p>
                      <a:pPr algn="l">
                        <a:lnSpc>
                          <a:spcPts val="1679"/>
                        </a:lnSpc>
                      </a:pPr>
                      <a:r>
                        <a:rPr lang="en-US" sz="1200">
                          <a:solidFill>
                            <a:srgbClr val="FFFFFF"/>
                          </a:solidFill>
                          <a:latin typeface="Quattrocento"/>
                          <a:ea typeface="Quattrocento"/>
                          <a:cs typeface="Quattrocento"/>
                          <a:sym typeface="Quattrocento"/>
                        </a:rPr>
                        <a:t>  - Perception of Value:</a:t>
                      </a:r>
                    </a:p>
                    <a:p>
                      <a:pPr algn="l">
                        <a:lnSpc>
                          <a:spcPts val="1679"/>
                        </a:lnSpc>
                      </a:pPr>
                      <a:r>
                        <a:rPr lang="en-US" sz="1200">
                          <a:solidFill>
                            <a:srgbClr val="FFFFFF"/>
                          </a:solidFill>
                          <a:latin typeface="Quattrocento"/>
                          <a:ea typeface="Quattrocento"/>
                          <a:cs typeface="Quattrocento"/>
                          <a:sym typeface="Quattrocento"/>
                        </a:rPr>
                        <a:t>  Customers compare service value against price.</a:t>
                      </a:r>
                    </a:p>
                    <a:p>
                      <a:pPr algn="l">
                        <a:lnSpc>
                          <a:spcPts val="1679"/>
                        </a:lnSpc>
                      </a:pPr>
                      <a:r>
                        <a:rPr lang="en-US" sz="12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r>
              <a:tr h="1487439">
                <a:tc>
                  <a:txBody>
                    <a:bodyPr anchor="t" rtlCol="false"/>
                    <a:lstStyle/>
                    <a:p>
                      <a:pPr algn="ctr">
                        <a:lnSpc>
                          <a:spcPts val="1679"/>
                        </a:lnSpc>
                        <a:defRPr/>
                      </a:pPr>
                      <a:endParaRPr lang="en-US" sz="1100"/>
                    </a:p>
                    <a:p>
                      <a:pPr algn="ctr">
                        <a:lnSpc>
                          <a:spcPts val="1679"/>
                        </a:lnSpc>
                      </a:pPr>
                      <a:r>
                        <a:rPr lang="en-US" sz="1200">
                          <a:solidFill>
                            <a:srgbClr val="FFFFFF"/>
                          </a:solidFill>
                          <a:latin typeface="Quattrocento"/>
                          <a:ea typeface="Quattrocento"/>
                          <a:cs typeface="Quattrocento"/>
                          <a:sym typeface="Quattrocento"/>
                        </a:rPr>
                        <a:t>  Revenue Loss</a:t>
                      </a:r>
                    </a:p>
                    <a:p>
                      <a:pPr algn="ctr">
                        <a:lnSpc>
                          <a:spcPts val="1679"/>
                        </a:lnSpc>
                      </a:pPr>
                      <a:r>
                        <a:rPr lang="en-US" sz="12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p>
                      <a:pPr algn="l">
                        <a:lnSpc>
                          <a:spcPts val="1679"/>
                        </a:lnSpc>
                      </a:pPr>
                      <a:r>
                        <a:rPr lang="en-US" sz="1200">
                          <a:solidFill>
                            <a:srgbClr val="FFFFFF"/>
                          </a:solidFill>
                          <a:latin typeface="Quattrocento"/>
                          <a:ea typeface="Quattrocento"/>
                          <a:cs typeface="Quattrocento"/>
                          <a:sym typeface="Quattrocento"/>
                        </a:rPr>
                        <a:t>  - Switching Providers:</a:t>
                      </a:r>
                    </a:p>
                    <a:p>
                      <a:pPr algn="l">
                        <a:lnSpc>
                          <a:spcPts val="1679"/>
                        </a:lnSpc>
                      </a:pPr>
                      <a:r>
                        <a:rPr lang="en-US" sz="1200">
                          <a:solidFill>
                            <a:srgbClr val="FFFFFF"/>
                          </a:solidFill>
                          <a:latin typeface="Quattrocento"/>
                          <a:ea typeface="Quattrocento"/>
                          <a:cs typeface="Quattrocento"/>
                          <a:sym typeface="Quattrocento"/>
                        </a:rPr>
                        <a:t>  Competitors with lower prices can lead to customer loss and it can directly</a:t>
                      </a:r>
                    </a:p>
                    <a:p>
                      <a:pPr algn="l">
                        <a:lnSpc>
                          <a:spcPts val="1679"/>
                        </a:lnSpc>
                      </a:pPr>
                      <a:r>
                        <a:rPr lang="en-US" sz="1200">
                          <a:solidFill>
                            <a:srgbClr val="FFFFFF"/>
                          </a:solidFill>
                          <a:latin typeface="Quattrocento"/>
                          <a:ea typeface="Quattrocento"/>
                          <a:cs typeface="Quattrocento"/>
                          <a:sym typeface="Quattrocento"/>
                        </a:rPr>
                        <a:t>  affect to market share.</a:t>
                      </a:r>
                    </a:p>
                    <a:p>
                      <a:pPr algn="l">
                        <a:lnSpc>
                          <a:spcPts val="1679"/>
                        </a:lnSpc>
                      </a:pPr>
                      <a:r>
                        <a:rPr lang="en-US" sz="12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r>
              <a:tr h="1300447">
                <a:tc>
                  <a:txBody>
                    <a:bodyPr anchor="t" rtlCol="false"/>
                    <a:lstStyle/>
                    <a:p>
                      <a:pPr algn="ctr">
                        <a:lnSpc>
                          <a:spcPts val="1679"/>
                        </a:lnSpc>
                        <a:defRPr/>
                      </a:pPr>
                      <a:endParaRPr lang="en-US" sz="1100"/>
                    </a:p>
                    <a:p>
                      <a:pPr algn="ctr">
                        <a:lnSpc>
                          <a:spcPts val="1679"/>
                        </a:lnSpc>
                      </a:pPr>
                      <a:r>
                        <a:rPr lang="en-US" sz="1200">
                          <a:solidFill>
                            <a:srgbClr val="FFFFFF"/>
                          </a:solidFill>
                          <a:latin typeface="Quattrocento"/>
                          <a:ea typeface="Quattrocento"/>
                          <a:cs typeface="Quattrocento"/>
                          <a:sym typeface="Quattrocento"/>
                        </a:rPr>
                        <a:t>  Quality of Services</a:t>
                      </a:r>
                    </a:p>
                    <a:p>
                      <a:pPr algn="ctr">
                        <a:lnSpc>
                          <a:spcPts val="1679"/>
                        </a:lnSpc>
                      </a:pPr>
                      <a:r>
                        <a:rPr lang="en-US" sz="12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p>
                      <a:pPr algn="l">
                        <a:lnSpc>
                          <a:spcPts val="1679"/>
                        </a:lnSpc>
                      </a:pPr>
                      <a:r>
                        <a:rPr lang="en-US" sz="1200">
                          <a:solidFill>
                            <a:srgbClr val="FFFFFF"/>
                          </a:solidFill>
                          <a:latin typeface="Quattrocento"/>
                          <a:ea typeface="Quattrocento"/>
                          <a:cs typeface="Quattrocento"/>
                          <a:sym typeface="Quattrocento"/>
                        </a:rPr>
                        <a:t>  - Customer Experience:</a:t>
                      </a:r>
                    </a:p>
                    <a:p>
                      <a:pPr algn="l">
                        <a:lnSpc>
                          <a:spcPts val="1679"/>
                        </a:lnSpc>
                      </a:pPr>
                      <a:r>
                        <a:rPr lang="en-US" sz="1200">
                          <a:solidFill>
                            <a:srgbClr val="FFFFFF"/>
                          </a:solidFill>
                          <a:latin typeface="Quattrocento"/>
                          <a:ea typeface="Quattrocento"/>
                          <a:cs typeface="Quattrocento"/>
                          <a:sym typeface="Quattrocento"/>
                        </a:rPr>
                        <a:t>  Effective communication enhances customer satisfaction.</a:t>
                      </a:r>
                    </a:p>
                    <a:p>
                      <a:pPr algn="l">
                        <a:lnSpc>
                          <a:spcPts val="1679"/>
                        </a:lnSpc>
                      </a:pPr>
                      <a:r>
                        <a:rPr lang="en-US" sz="12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r>
              <a:tr h="722471">
                <a:tc>
                  <a:txBody>
                    <a:bodyPr anchor="t" rtlCol="false"/>
                    <a:lstStyle/>
                    <a:p>
                      <a:pPr algn="l">
                        <a:lnSpc>
                          <a:spcPts val="1120"/>
                        </a:lnSpc>
                        <a:defRPr/>
                      </a:pPr>
                      <a:endParaRPr lang="en-US" sz="1100"/>
                    </a:p>
                    <a:p>
                      <a:pPr algn="l">
                        <a:lnSpc>
                          <a:spcPts val="1120"/>
                        </a:lnSpc>
                      </a:pPr>
                      <a:r>
                        <a:rPr lang="en-US" sz="800">
                          <a:solidFill>
                            <a:srgbClr val="FFFFFF"/>
                          </a:solidFill>
                          <a:latin typeface="Quattrocento"/>
                          <a:ea typeface="Quattrocento"/>
                          <a:cs typeface="Quattrocento"/>
                          <a:sym typeface="Quattrocento"/>
                        </a:rPr>
                        <a:t>  </a:t>
                      </a:r>
                    </a:p>
                    <a:p>
                      <a:pPr algn="l">
                        <a:lnSpc>
                          <a:spcPts val="1120"/>
                        </a:lnSpc>
                      </a:pPr>
                      <a:r>
                        <a:rPr lang="en-US" sz="8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c>
                  <a:txBody>
                    <a:bodyPr anchor="t" rtlCol="false"/>
                    <a:lstStyle/>
                    <a:p>
                      <a:pPr algn="l">
                        <a:lnSpc>
                          <a:spcPts val="1679"/>
                        </a:lnSpc>
                        <a:defRPr/>
                      </a:pPr>
                      <a:endParaRPr lang="en-US" sz="1100"/>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r>
              <a:tr h="722471">
                <a:tc>
                  <a:txBody>
                    <a:bodyPr anchor="t" rtlCol="false"/>
                    <a:lstStyle/>
                    <a:p>
                      <a:pPr algn="l">
                        <a:lnSpc>
                          <a:spcPts val="1120"/>
                        </a:lnSpc>
                        <a:defRPr/>
                      </a:pPr>
                      <a:endParaRPr lang="en-US" sz="1100"/>
                    </a:p>
                    <a:p>
                      <a:pPr algn="l">
                        <a:lnSpc>
                          <a:spcPts val="1120"/>
                        </a:lnSpc>
                      </a:pPr>
                      <a:r>
                        <a:rPr lang="en-US" sz="800">
                          <a:solidFill>
                            <a:srgbClr val="FFFFFF"/>
                          </a:solidFill>
                          <a:latin typeface="Quattrocento"/>
                          <a:ea typeface="Quattrocento"/>
                          <a:cs typeface="Quattrocento"/>
                          <a:sym typeface="Quattrocento"/>
                        </a:rPr>
                        <a:t>  </a:t>
                      </a:r>
                    </a:p>
                    <a:p>
                      <a:pPr algn="l">
                        <a:lnSpc>
                          <a:spcPts val="1120"/>
                        </a:lnSpc>
                      </a:pPr>
                      <a:r>
                        <a:rPr lang="en-US" sz="8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c>
                  <a:txBody>
                    <a:bodyPr anchor="t" rtlCol="false"/>
                    <a:lstStyle/>
                    <a:p>
                      <a:pPr algn="l">
                        <a:lnSpc>
                          <a:spcPts val="1120"/>
                        </a:lnSpc>
                        <a:defRPr/>
                      </a:pPr>
                      <a:endParaRPr lang="en-US" sz="1100"/>
                    </a:p>
                    <a:p>
                      <a:pPr algn="l">
                        <a:lnSpc>
                          <a:spcPts val="1120"/>
                        </a:lnSpc>
                      </a:pPr>
                      <a:r>
                        <a:rPr lang="en-US" sz="800">
                          <a:solidFill>
                            <a:srgbClr val="FFFFFF"/>
                          </a:solidFill>
                          <a:latin typeface="Quattrocento"/>
                          <a:ea typeface="Quattrocento"/>
                          <a:cs typeface="Quattrocento"/>
                          <a:sym typeface="Quattrocento"/>
                        </a:rPr>
                        <a:t>  </a:t>
                      </a:r>
                    </a:p>
                    <a:p>
                      <a:pPr algn="l">
                        <a:lnSpc>
                          <a:spcPts val="1120"/>
                        </a:lnSpc>
                      </a:pPr>
                      <a:r>
                        <a:rPr lang="en-US" sz="800">
                          <a:solidFill>
                            <a:srgbClr val="FFFFFF"/>
                          </a:solidFill>
                          <a:latin typeface="Quattrocento"/>
                          <a:ea typeface="Quattrocento"/>
                          <a:cs typeface="Quattrocento"/>
                          <a:sym typeface="Quattrocento"/>
                        </a:rPr>
                        <a:t>  </a:t>
                      </a:r>
                    </a:p>
                  </a:txBody>
                  <a:tcPr marL="190500" marR="190500" marT="190500" marB="190500" anchor="ctr">
                    <a:lnL cmpd="sng" algn="ctr" cap="flat" w="25400">
                      <a:solidFill>
                        <a:srgbClr val="FFFFFF"/>
                      </a:solidFill>
                      <a:prstDash val="solid"/>
                      <a:round/>
                      <a:headEnd type="none" w="med" len="med"/>
                      <a:tailEnd type="none" w="med" len="med"/>
                    </a:lnL>
                    <a:lnR cmpd="sng" algn="ctr" cap="flat" w="25400">
                      <a:solidFill>
                        <a:srgbClr val="FFFFFF"/>
                      </a:solidFill>
                      <a:prstDash val="solid"/>
                      <a:round/>
                      <a:headEnd type="none" w="med" len="med"/>
                      <a:tailEnd type="none" w="med" len="med"/>
                    </a:lnR>
                    <a:lnT cmpd="sng" algn="ctr" cap="flat" w="25400">
                      <a:solidFill>
                        <a:srgbClr val="FFFFFF"/>
                      </a:solidFill>
                      <a:prstDash val="solid"/>
                      <a:round/>
                      <a:headEnd type="none" w="med" len="med"/>
                      <a:tailEnd type="none" w="med" len="med"/>
                    </a:lnT>
                    <a:lnB cmpd="sng" algn="ctr" cap="flat" w="25400">
                      <a:solidFill>
                        <a:srgbClr val="FFFFFF"/>
                      </a:solidFill>
                      <a:prstDash val="solid"/>
                      <a:round/>
                      <a:headEnd type="none" w="med" len="med"/>
                      <a:tailEnd type="none" w="med" len="med"/>
                    </a:lnB>
                  </a:tcPr>
                </a:tc>
              </a:tr>
            </a:tbl>
          </a:graphicData>
        </a:graphic>
      </p:graphicFrame>
      <p:sp>
        <p:nvSpPr>
          <p:cNvPr name="TextBox 7" id="7"/>
          <p:cNvSpPr txBox="true"/>
          <p:nvPr/>
        </p:nvSpPr>
        <p:spPr>
          <a:xfrm rot="0">
            <a:off x="2059984" y="5691207"/>
            <a:ext cx="6892788" cy="2837818"/>
          </a:xfrm>
          <a:prstGeom prst="rect">
            <a:avLst/>
          </a:prstGeom>
        </p:spPr>
        <p:txBody>
          <a:bodyPr anchor="t" rtlCol="false" tIns="0" lIns="0" bIns="0" rIns="0">
            <a:spAutoFit/>
          </a:bodyPr>
          <a:lstStyle/>
          <a:p>
            <a:pPr algn="l">
              <a:lnSpc>
                <a:spcPts val="9852"/>
              </a:lnSpc>
            </a:pPr>
            <a:r>
              <a:rPr lang="en-US" sz="11455" spc="-652">
                <a:solidFill>
                  <a:srgbClr val="DA601C"/>
                </a:solidFill>
                <a:latin typeface="Times New Roman Condensed"/>
                <a:ea typeface="Times New Roman Condensed"/>
                <a:cs typeface="Times New Roman Condensed"/>
                <a:sym typeface="Times New Roman Condensed"/>
              </a:rPr>
              <a:t>Solution</a:t>
            </a:r>
          </a:p>
          <a:p>
            <a:pPr algn="l">
              <a:lnSpc>
                <a:spcPts val="9852"/>
              </a:lnSpc>
            </a:pPr>
            <a:r>
              <a:rPr lang="en-US" sz="11455" spc="-652">
                <a:solidFill>
                  <a:srgbClr val="DA601C"/>
                </a:solidFill>
                <a:latin typeface="Times New Roman Condensed"/>
                <a:ea typeface="Times New Roman Condensed"/>
                <a:cs typeface="Times New Roman Condensed"/>
                <a:sym typeface="Times New Roman Condensed"/>
              </a:rPr>
              <a:t>and Impact</a:t>
            </a:r>
          </a:p>
        </p:txBody>
      </p:sp>
      <p:sp>
        <p:nvSpPr>
          <p:cNvPr name="TextBox 8" id="8"/>
          <p:cNvSpPr txBox="true"/>
          <p:nvPr/>
        </p:nvSpPr>
        <p:spPr>
          <a:xfrm rot="0">
            <a:off x="10310243" y="860272"/>
            <a:ext cx="6329576" cy="2332727"/>
          </a:xfrm>
          <a:prstGeom prst="rect">
            <a:avLst/>
          </a:prstGeom>
        </p:spPr>
        <p:txBody>
          <a:bodyPr anchor="t" rtlCol="false" tIns="0" lIns="0" bIns="0" rIns="0">
            <a:spAutoFit/>
          </a:bodyPr>
          <a:lstStyle/>
          <a:p>
            <a:pPr algn="l">
              <a:lnSpc>
                <a:spcPts val="2219"/>
              </a:lnSpc>
            </a:pPr>
            <a:r>
              <a:rPr lang="en-US" sz="1585" u="sng">
                <a:solidFill>
                  <a:srgbClr val="F8F4ED"/>
                </a:solidFill>
                <a:latin typeface="Quattrocento"/>
                <a:ea typeface="Quattrocento"/>
                <a:cs typeface="Quattrocento"/>
                <a:sym typeface="Quattrocento"/>
              </a:rPr>
              <a:t>Smart technology and Innovations:</a:t>
            </a:r>
          </a:p>
          <a:p>
            <a:pPr algn="l">
              <a:lnSpc>
                <a:spcPts val="2079"/>
              </a:lnSpc>
            </a:pPr>
            <a:r>
              <a:rPr lang="en-US" sz="1485">
                <a:solidFill>
                  <a:srgbClr val="F8F4ED"/>
                </a:solidFill>
                <a:latin typeface="Quattrocento"/>
                <a:ea typeface="Quattrocento"/>
                <a:cs typeface="Quattrocento"/>
                <a:sym typeface="Quattrocento"/>
              </a:rPr>
              <a:t>Customers always looking for advanced technology, such as smart meters and energy tracking devices, which provide greater control over energy usage. Lack of such innovations can result in customers seeking alternatives</a:t>
            </a:r>
          </a:p>
          <a:p>
            <a:pPr algn="l">
              <a:lnSpc>
                <a:spcPts val="2079"/>
              </a:lnSpc>
            </a:pPr>
            <a:r>
              <a:rPr lang="en-US" sz="1485">
                <a:solidFill>
                  <a:srgbClr val="F8F4ED"/>
                </a:solidFill>
                <a:latin typeface="Quattrocento"/>
                <a:ea typeface="Quattrocento"/>
                <a:cs typeface="Quattrocento"/>
                <a:sym typeface="Quattrocento"/>
              </a:rPr>
              <a:t>Service offering: </a:t>
            </a:r>
          </a:p>
          <a:p>
            <a:pPr algn="l">
              <a:lnSpc>
                <a:spcPts val="2079"/>
              </a:lnSpc>
            </a:pPr>
            <a:r>
              <a:rPr lang="en-US" sz="1485">
                <a:solidFill>
                  <a:srgbClr val="F8F4ED"/>
                </a:solidFill>
                <a:latin typeface="Quattrocento"/>
                <a:ea typeface="Quattrocento"/>
                <a:cs typeface="Quattrocento"/>
                <a:sym typeface="Quattrocento"/>
              </a:rPr>
              <a:t>Provide unique and additional services that can enhance customer loyalty.</a:t>
            </a:r>
          </a:p>
          <a:p>
            <a:pPr algn="l">
              <a:lnSpc>
                <a:spcPts val="2079"/>
              </a:lnSpc>
            </a:pPr>
            <a:r>
              <a:rPr lang="en-US" sz="1485">
                <a:solidFill>
                  <a:srgbClr val="F8F4ED"/>
                </a:solidFill>
                <a:latin typeface="Quattrocento"/>
                <a:ea typeface="Quattrocento"/>
                <a:cs typeface="Quattrocento"/>
                <a:sym typeface="Quattrocento"/>
              </a:rPr>
              <a:t>The effectiveness of customer service plays a significant role in customer retention.</a:t>
            </a:r>
          </a:p>
        </p:txBody>
      </p:sp>
      <p:sp>
        <p:nvSpPr>
          <p:cNvPr name="TextBox 9" id="9"/>
          <p:cNvSpPr txBox="true"/>
          <p:nvPr/>
        </p:nvSpPr>
        <p:spPr>
          <a:xfrm rot="0">
            <a:off x="10310243" y="334556"/>
            <a:ext cx="6785360" cy="539131"/>
          </a:xfrm>
          <a:prstGeom prst="rect">
            <a:avLst/>
          </a:prstGeom>
        </p:spPr>
        <p:txBody>
          <a:bodyPr anchor="t" rtlCol="false" tIns="0" lIns="0" bIns="0" rIns="0">
            <a:spAutoFit/>
          </a:bodyPr>
          <a:lstStyle/>
          <a:p>
            <a:pPr algn="l">
              <a:lnSpc>
                <a:spcPts val="4262"/>
              </a:lnSpc>
            </a:pPr>
            <a:r>
              <a:rPr lang="en-US" b="true" sz="3044">
                <a:solidFill>
                  <a:srgbClr val="DA601C"/>
                </a:solidFill>
                <a:latin typeface="Quattrocento Bold"/>
                <a:ea typeface="Quattrocento Bold"/>
                <a:cs typeface="Quattrocento Bold"/>
                <a:sym typeface="Quattrocento Bold"/>
              </a:rPr>
              <a:t>STEP 1</a:t>
            </a:r>
          </a:p>
        </p:txBody>
      </p:sp>
      <p:sp>
        <p:nvSpPr>
          <p:cNvPr name="TextBox 10" id="10"/>
          <p:cNvSpPr txBox="true"/>
          <p:nvPr/>
        </p:nvSpPr>
        <p:spPr>
          <a:xfrm rot="0">
            <a:off x="10310243" y="3145375"/>
            <a:ext cx="6785360" cy="539131"/>
          </a:xfrm>
          <a:prstGeom prst="rect">
            <a:avLst/>
          </a:prstGeom>
        </p:spPr>
        <p:txBody>
          <a:bodyPr anchor="t" rtlCol="false" tIns="0" lIns="0" bIns="0" rIns="0">
            <a:spAutoFit/>
          </a:bodyPr>
          <a:lstStyle/>
          <a:p>
            <a:pPr algn="l">
              <a:lnSpc>
                <a:spcPts val="4262"/>
              </a:lnSpc>
            </a:pPr>
            <a:r>
              <a:rPr lang="en-US" b="true" sz="3044">
                <a:solidFill>
                  <a:srgbClr val="DA601C"/>
                </a:solidFill>
                <a:latin typeface="Quattrocento Bold"/>
                <a:ea typeface="Quattrocento Bold"/>
                <a:cs typeface="Quattrocento Bold"/>
                <a:sym typeface="Quattrocento Bold"/>
              </a:rPr>
              <a:t>STEP 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4ED"/>
        </a:solidFill>
      </p:bgPr>
    </p:bg>
    <p:spTree>
      <p:nvGrpSpPr>
        <p:cNvPr id="1" name=""/>
        <p:cNvGrpSpPr/>
        <p:nvPr/>
      </p:nvGrpSpPr>
      <p:grpSpPr>
        <a:xfrm>
          <a:off x="0" y="0"/>
          <a:ext cx="0" cy="0"/>
          <a:chOff x="0" y="0"/>
          <a:chExt cx="0" cy="0"/>
        </a:xfrm>
      </p:grpSpPr>
      <p:sp>
        <p:nvSpPr>
          <p:cNvPr name="TextBox 2" id="2"/>
          <p:cNvSpPr txBox="true"/>
          <p:nvPr/>
        </p:nvSpPr>
        <p:spPr>
          <a:xfrm rot="0">
            <a:off x="1413894" y="1520742"/>
            <a:ext cx="8738234" cy="5092270"/>
          </a:xfrm>
          <a:prstGeom prst="rect">
            <a:avLst/>
          </a:prstGeom>
        </p:spPr>
        <p:txBody>
          <a:bodyPr anchor="t" rtlCol="false" tIns="0" lIns="0" bIns="0" rIns="0">
            <a:spAutoFit/>
          </a:bodyPr>
          <a:lstStyle/>
          <a:p>
            <a:pPr algn="l">
              <a:lnSpc>
                <a:spcPts val="17616"/>
              </a:lnSpc>
            </a:pPr>
            <a:r>
              <a:rPr lang="en-US" sz="20483" spc="-1167">
                <a:solidFill>
                  <a:srgbClr val="DA601C"/>
                </a:solidFill>
                <a:latin typeface="Times New Roman Condensed"/>
                <a:ea typeface="Times New Roman Condensed"/>
                <a:cs typeface="Times New Roman Condensed"/>
                <a:sym typeface="Times New Roman Condensed"/>
              </a:rPr>
              <a:t>Thank You</a:t>
            </a:r>
          </a:p>
        </p:txBody>
      </p:sp>
      <p:grpSp>
        <p:nvGrpSpPr>
          <p:cNvPr name="Group 3" id="3"/>
          <p:cNvGrpSpPr/>
          <p:nvPr/>
        </p:nvGrpSpPr>
        <p:grpSpPr>
          <a:xfrm rot="0">
            <a:off x="-620311" y="6613011"/>
            <a:ext cx="8186328" cy="4194280"/>
            <a:chOff x="0" y="0"/>
            <a:chExt cx="851721" cy="436381"/>
          </a:xfrm>
        </p:grpSpPr>
        <p:sp>
          <p:nvSpPr>
            <p:cNvPr name="Freeform 4" id="4"/>
            <p:cNvSpPr/>
            <p:nvPr/>
          </p:nvSpPr>
          <p:spPr>
            <a:xfrm flipH="false" flipV="false" rot="0">
              <a:off x="0" y="0"/>
              <a:ext cx="851721" cy="436381"/>
            </a:xfrm>
            <a:custGeom>
              <a:avLst/>
              <a:gdLst/>
              <a:ahLst/>
              <a:cxnLst/>
              <a:rect r="r" b="b" t="t" l="l"/>
              <a:pathLst>
                <a:path h="436381" w="851721">
                  <a:moveTo>
                    <a:pt x="0" y="0"/>
                  </a:moveTo>
                  <a:lnTo>
                    <a:pt x="851721" y="0"/>
                  </a:lnTo>
                  <a:lnTo>
                    <a:pt x="851721" y="436381"/>
                  </a:lnTo>
                  <a:lnTo>
                    <a:pt x="0" y="436381"/>
                  </a:lnTo>
                  <a:close/>
                </a:path>
              </a:pathLst>
            </a:custGeom>
            <a:blipFill>
              <a:blip r:embed="rId2"/>
              <a:stretch>
                <a:fillRect l="0" t="-15140" r="0" b="-15140"/>
              </a:stretch>
            </a:blipFill>
          </p:spPr>
        </p:sp>
      </p:grpSp>
      <p:grpSp>
        <p:nvGrpSpPr>
          <p:cNvPr name="Group 5" id="5"/>
          <p:cNvGrpSpPr/>
          <p:nvPr/>
        </p:nvGrpSpPr>
        <p:grpSpPr>
          <a:xfrm rot="0">
            <a:off x="10436378" y="-520292"/>
            <a:ext cx="8186328" cy="4194280"/>
            <a:chOff x="0" y="0"/>
            <a:chExt cx="851721" cy="436381"/>
          </a:xfrm>
        </p:grpSpPr>
        <p:sp>
          <p:nvSpPr>
            <p:cNvPr name="Freeform 6" id="6"/>
            <p:cNvSpPr/>
            <p:nvPr/>
          </p:nvSpPr>
          <p:spPr>
            <a:xfrm flipH="false" flipV="false" rot="0">
              <a:off x="0" y="0"/>
              <a:ext cx="851721" cy="436381"/>
            </a:xfrm>
            <a:custGeom>
              <a:avLst/>
              <a:gdLst/>
              <a:ahLst/>
              <a:cxnLst/>
              <a:rect r="r" b="b" t="t" l="l"/>
              <a:pathLst>
                <a:path h="436381" w="851721">
                  <a:moveTo>
                    <a:pt x="0" y="0"/>
                  </a:moveTo>
                  <a:lnTo>
                    <a:pt x="851721" y="0"/>
                  </a:lnTo>
                  <a:lnTo>
                    <a:pt x="851721" y="436381"/>
                  </a:lnTo>
                  <a:lnTo>
                    <a:pt x="0" y="436381"/>
                  </a:lnTo>
                  <a:close/>
                </a:path>
              </a:pathLst>
            </a:custGeom>
            <a:blipFill>
              <a:blip r:embed="rId3"/>
              <a:stretch>
                <a:fillRect l="0" t="-96201" r="0" b="-96201"/>
              </a:stretch>
            </a:blipFill>
          </p:spPr>
        </p:sp>
      </p:grpSp>
      <p:sp>
        <p:nvSpPr>
          <p:cNvPr name="AutoShape 7" id="7"/>
          <p:cNvSpPr/>
          <p:nvPr/>
        </p:nvSpPr>
        <p:spPr>
          <a:xfrm flipH="true">
            <a:off x="9144049" y="8672052"/>
            <a:ext cx="7404858" cy="19050"/>
          </a:xfrm>
          <a:prstGeom prst="line">
            <a:avLst/>
          </a:prstGeom>
          <a:ln cap="flat" w="38100">
            <a:solidFill>
              <a:srgbClr val="2B2A27"/>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DAGSi4HhIpI</dc:identifier>
  <dcterms:modified xsi:type="dcterms:W3CDTF">2011-08-01T06:04:30Z</dcterms:modified>
  <cp:revision>1</cp:revision>
  <dc:title>Non Text Magic Studio Magic Design for Presentations L&amp;P</dc:title>
</cp:coreProperties>
</file>